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[Name]. This is Kapora: trustless deposits for marketplaces, built as one trust component that any marketplace, in any sector, can plug in. Our one-liner: you can disappear, but not with my money.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car, real-estate and second-hand marketplaces the scam is always the same: a listing that looks too good, a deposit by bank transfer, and the seller vanishes. Polish law already has the answer, art. 394 zadatek, but nobody sues a stranger over a few thousand zloty.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this for? Primarily people in Poland who find a car or a flat on a listing site and pay a zadatek to a stranger, and their sellers. They are not crypto users, so the interface talks about accounts and PLN. Secondary users are marketplaces that embed our widget. The relationship we redesigned is the up-front deposit. Today the intermediary is either nobody, just an IBAN transfer, or an expensive one: a court, a notary escrow or paid platform protection. Without it, the legal rule runs instantly.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Kapora is the law as code. The seller locks a stake first, so a fake seller has to risk their own money. The buyer locks the deposit into a vault owned by the program. Two confirmations at the handover release the money. If someone backs out or vanishes, the legal rule pays out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exactly does the intermediary disappear? In settle.rs: payout computes the split from the rule, and settle moves the money out of the vault PDA. It is called by confirm_complete, withdraw and claim_after_deadline. The vault has no private key; funds leave only through settle. And here is the moment the intermediary is no longer needed: if the seller vanishes, after the deadline anyone can call claim_after_deadline and the program pays out by the rule. There is no admin instruction, and the upgrade authority will be revoked after the final deploy.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payout table drives everything. Two parameters: penalty, Forfeit or Refund, and on_complete, whether the payer's amount goes to the payee or back to the payer. The four templates are just presets of the same program. Deposit is our main story: Forfeit, to the payee, stake equals deposit, labelled zadatek. If the payee backs out under Forfeit, the payer receives P, which for a zadatek is twice the deposit.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one script tag. A marketplace adds the widget to a listing page with a template, and the button opens the Kapora deal flow. Developers can use the TypeScript SDK instead, and every deal has a shareable link. Our two demo marketplaces, DemoAuto for cars and DemoRent for equipment rental, are fictional, and they run the same widget on the same program.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by design. On-chain we keep only money and behaviour: amounts, wallets, deadlines, the rule, status, salted hashes and behaviour counters, so you can see how a wallet behaved without knowing who it is. Everything personal lives off-chain and can be deleted; delete the salt and the hash points to nothing. And nothing off-chain can move money or change an outcome.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goes: one trust component that any site in any sector can plug in, like a payment provider but without the intermediary. Today: one program and one widget with four templates. Next: auto-confirmed shipped purchases, milestone payments, asset swaps, event-based payouts via oracles, and a payment API. Betting and prediction markets are deliberately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component: every marketplace, every sector, every country. Built on Solana with Anchor, SPL Token, Next.js and a TypeScript SDK. And honestly: confirmations of the real-world handover come from the parties, an arbiter is trusted once both agree to one, and this is devnet with test USDC. Repo, video and live demo are linked here.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titl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77240" y="960120"/>
            <a:ext cx="566928" cy="566928"/>
          </a:xfrm>
          <a:prstGeom prst="roundRect">
            <a:avLst>
              <a:gd name="adj" fmla="val 25806"/>
            </a:avLst>
          </a:prstGeom>
          <a:gradFill rotWithShape="1">
            <a:gsLst>
              <a:gs pos="0">
                <a:srgbClr val="9945FF"/>
              </a:gs>
              <a:gs pos="100000">
                <a:srgbClr val="14F195"/>
              </a:gs>
            </a:gsLst>
            <a:lin ang="0" scaled="0"/>
          </a:gradFill>
          <a:ln>
            <a:noFill/>
          </a:ln>
        </p:spPr>
        <p:txBody>
          <a:bodyPr rtlCol="0" anchor="ctr"/>
          <a:lstStyle/>
          <a:p>
            <a:pPr algn="ctr"/>
          </a:p>
        </p:txBody>
      </p:sp>
      <p:sp>
        <p:nvSpPr>
          <p:cNvPr id="4" name="TextBox 3"/>
          <p:cNvSpPr txBox="1"/>
          <p:nvPr/>
        </p:nvSpPr>
        <p:spPr>
          <a:xfrm>
            <a:off x="777240" y="960120"/>
            <a:ext cx="566928" cy="566928"/>
          </a:xfrm>
          <a:prstGeom prst="rect">
            <a:avLst/>
          </a:prstGeom>
          <a:noFill/>
        </p:spPr>
        <p:txBody>
          <a:bodyPr wrap="square" lIns="0" rIns="0" tIns="0" bIns="0" anchor="ctr">
            <a:noAutofit/>
          </a:bodyPr>
          <a:lstStyle/>
          <a:p>
            <a:pPr algn="ctr">
              <a:lnSpc>
                <a:spcPct val="100000"/>
              </a:lnSpc>
            </a:pPr>
            <a:r>
              <a:rPr sz="2400" b="1" i="0">
                <a:solidFill>
                  <a:srgbClr val="0A0F22"/>
                </a:solidFill>
                <a:latin typeface="Segoe UI"/>
              </a:rPr>
              <a:t>K</a:t>
            </a:r>
          </a:p>
        </p:txBody>
      </p:sp>
      <p:sp>
        <p:nvSpPr>
          <p:cNvPr id="5" name="TextBox 4"/>
          <p:cNvSpPr txBox="1"/>
          <p:nvPr/>
        </p:nvSpPr>
        <p:spPr>
          <a:xfrm>
            <a:off x="1481328" y="1078992"/>
            <a:ext cx="5486400" cy="365760"/>
          </a:xfrm>
          <a:prstGeom prst="rect">
            <a:avLst/>
          </a:prstGeom>
          <a:noFill/>
        </p:spPr>
        <p:txBody>
          <a:bodyPr wrap="square" lIns="0" rIns="0" tIns="0" bIns="0" anchor="ctr">
            <a:noAutofit/>
          </a:bodyPr>
          <a:lstStyle/>
          <a:p>
            <a:pPr algn="l">
              <a:lnSpc>
                <a:spcPct val="100000"/>
              </a:lnSpc>
            </a:pPr>
            <a:r>
              <a:rPr sz="1300" b="1" i="0" spc="300">
                <a:solidFill>
                  <a:srgbClr val="B4BCD6"/>
                </a:solidFill>
                <a:latin typeface="Segoe UI"/>
              </a:rPr>
              <a:t>KAPORA PROTOCOL</a:t>
            </a:r>
          </a:p>
        </p:txBody>
      </p:sp>
      <p:sp>
        <p:nvSpPr>
          <p:cNvPr id="6" name="TextBox 5"/>
          <p:cNvSpPr txBox="1"/>
          <p:nvPr/>
        </p:nvSpPr>
        <p:spPr>
          <a:xfrm>
            <a:off x="685800" y="1572768"/>
            <a:ext cx="6400800" cy="1691640"/>
          </a:xfrm>
          <a:prstGeom prst="rect">
            <a:avLst/>
          </a:prstGeom>
          <a:noFill/>
        </p:spPr>
        <p:txBody>
          <a:bodyPr wrap="square" lIns="0" rIns="0" tIns="0" bIns="0" anchor="t">
            <a:noAutofit/>
          </a:bodyPr>
          <a:lstStyle/>
          <a:p>
            <a:pPr algn="l">
              <a:lnSpc>
                <a:spcPct val="100000"/>
              </a:lnSpc>
            </a:pPr>
            <a:r>
              <a:rPr sz="10000" b="1" i="0">
                <a:gradFill rotWithShape="1">
                  <a:gsLst>
                    <a:gs pos="0">
                      <a:srgbClr val="9945FF"/>
                    </a:gs>
                    <a:gs pos="100000">
                      <a:srgbClr val="14F195"/>
                    </a:gs>
                  </a:gsLst>
                  <a:lin ang="0" scaled="0"/>
                </a:gradFill>
                <a:latin typeface="Segoe UI"/>
              </a:rPr>
              <a:t>Kapora</a:t>
            </a:r>
          </a:p>
        </p:txBody>
      </p:sp>
      <p:sp>
        <p:nvSpPr>
          <p:cNvPr id="7" name="TextBox 6"/>
          <p:cNvSpPr txBox="1"/>
          <p:nvPr/>
        </p:nvSpPr>
        <p:spPr>
          <a:xfrm>
            <a:off x="777240" y="3401568"/>
            <a:ext cx="6675120" cy="548640"/>
          </a:xfrm>
          <a:prstGeom prst="rect">
            <a:avLst/>
          </a:prstGeom>
          <a:noFill/>
        </p:spPr>
        <p:txBody>
          <a:bodyPr wrap="square" lIns="0" rIns="0" tIns="0" bIns="0" anchor="t">
            <a:noAutofit/>
          </a:bodyPr>
          <a:lstStyle/>
          <a:p>
            <a:pPr algn="l">
              <a:lnSpc>
                <a:spcPct val="100000"/>
              </a:lnSpc>
            </a:pPr>
            <a:r>
              <a:rPr sz="3000" b="0" i="0">
                <a:solidFill>
                  <a:srgbClr val="F4F6FF"/>
                </a:solidFill>
                <a:latin typeface="Segoe UI"/>
              </a:rPr>
              <a:t>Trustless deposits for marketplaces</a:t>
            </a:r>
          </a:p>
        </p:txBody>
      </p:sp>
      <p:sp>
        <p:nvSpPr>
          <p:cNvPr id="8" name="TextBox 7"/>
          <p:cNvSpPr txBox="1"/>
          <p:nvPr/>
        </p:nvSpPr>
        <p:spPr>
          <a:xfrm>
            <a:off x="777240" y="4041648"/>
            <a:ext cx="6675120" cy="411480"/>
          </a:xfrm>
          <a:prstGeom prst="rect">
            <a:avLst/>
          </a:prstGeom>
          <a:noFill/>
        </p:spPr>
        <p:txBody>
          <a:bodyPr wrap="square" lIns="0" rIns="0" tIns="0" bIns="0" anchor="t">
            <a:noAutofit/>
          </a:bodyPr>
          <a:lstStyle/>
          <a:p>
            <a:pPr algn="l">
              <a:lnSpc>
                <a:spcPct val="100000"/>
              </a:lnSpc>
            </a:pPr>
            <a:r>
              <a:rPr sz="1800" b="0" i="0">
                <a:solidFill>
                  <a:srgbClr val="14F195"/>
                </a:solidFill>
                <a:latin typeface="Segoe UI"/>
              </a:rPr>
              <a:t>One trust component for every marketplace and sector.</a:t>
            </a:r>
          </a:p>
        </p:txBody>
      </p:sp>
      <p:sp>
        <p:nvSpPr>
          <p:cNvPr id="9" name="TextBox 8"/>
          <p:cNvSpPr txBox="1"/>
          <p:nvPr/>
        </p:nvSpPr>
        <p:spPr>
          <a:xfrm>
            <a:off x="777240" y="4572000"/>
            <a:ext cx="6675120" cy="411480"/>
          </a:xfrm>
          <a:prstGeom prst="rect">
            <a:avLst/>
          </a:prstGeom>
          <a:noFill/>
        </p:spPr>
        <p:txBody>
          <a:bodyPr wrap="square" lIns="0" rIns="0" tIns="0" bIns="0" anchor="t">
            <a:noAutofit/>
          </a:bodyPr>
          <a:lstStyle/>
          <a:p>
            <a:pPr algn="l">
              <a:lnSpc>
                <a:spcPct val="100000"/>
              </a:lnSpc>
            </a:pPr>
            <a:r>
              <a:rPr sz="1800" b="0" i="1">
                <a:solidFill>
                  <a:srgbClr val="B4BCD6"/>
                </a:solidFill>
                <a:latin typeface="Segoe UI"/>
              </a:rPr>
              <a:t>“You can disappear — but not with my money.”</a:t>
            </a:r>
          </a:p>
        </p:txBody>
      </p:sp>
      <p:sp>
        <p:nvSpPr>
          <p:cNvPr id="10" name="TextBox 9"/>
          <p:cNvSpPr txBox="1"/>
          <p:nvPr/>
        </p:nvSpPr>
        <p:spPr>
          <a:xfrm>
            <a:off x="777240" y="5760720"/>
            <a:ext cx="7315200" cy="320040"/>
          </a:xfrm>
          <a:prstGeom prst="rect">
            <a:avLst/>
          </a:prstGeom>
          <a:noFill/>
        </p:spPr>
        <p:txBody>
          <a:bodyPr wrap="square" lIns="0" rIns="0" tIns="0" bIns="0" anchor="t">
            <a:noAutofit/>
          </a:bodyPr>
          <a:lstStyle/>
          <a:p>
            <a:pPr algn="l">
              <a:lnSpc>
                <a:spcPct val="100000"/>
              </a:lnSpc>
            </a:pPr>
            <a:r>
              <a:rPr sz="1350" b="0" i="0">
                <a:solidFill>
                  <a:srgbClr val="6F7A9A"/>
                </a:solidFill>
                <a:latin typeface="Segoe UI"/>
              </a:rPr>
              <a:t>HackYeah 2026  ·  Superteam PL  ·  Finance Without Intermediaries</a:t>
            </a:r>
          </a:p>
        </p:txBody>
      </p:sp>
      <p:sp>
        <p:nvSpPr>
          <p:cNvPr id="11" name="Rounded Rectangle 10"/>
          <p:cNvSpPr/>
          <p:nvPr/>
        </p:nvSpPr>
        <p:spPr>
          <a:xfrm>
            <a:off x="7635240" y="1143000"/>
            <a:ext cx="1874519" cy="1325880"/>
          </a:xfrm>
          <a:prstGeom prst="roundRect">
            <a:avLst>
              <a:gd name="adj" fmla="val 11034"/>
            </a:avLst>
          </a:prstGeom>
          <a:solidFill>
            <a:srgbClr val="141C35"/>
          </a:solidFill>
          <a:ln w="12700">
            <a:solidFill>
              <a:srgbClr val="243055"/>
            </a:solidFill>
          </a:ln>
        </p:spPr>
        <p:txBody>
          <a:bodyPr rtlCol="0" anchor="ctr"/>
          <a:lstStyle/>
          <a:p>
            <a:pPr algn="ctr"/>
          </a:p>
        </p:txBody>
      </p:sp>
      <p:sp>
        <p:nvSpPr>
          <p:cNvPr id="12" name="TextBox 11"/>
          <p:cNvSpPr txBox="1"/>
          <p:nvPr/>
        </p:nvSpPr>
        <p:spPr>
          <a:xfrm>
            <a:off x="7836408" y="1298448"/>
            <a:ext cx="1554480" cy="274320"/>
          </a:xfrm>
          <a:prstGeom prst="rect">
            <a:avLst/>
          </a:prstGeom>
          <a:noFill/>
        </p:spPr>
        <p:txBody>
          <a:bodyPr wrap="square" lIns="0" rIns="0" tIns="0" bIns="0" anchor="t">
            <a:noAutofit/>
          </a:bodyPr>
          <a:lstStyle/>
          <a:p>
            <a:pPr algn="l">
              <a:lnSpc>
                <a:spcPct val="100000"/>
              </a:lnSpc>
            </a:pPr>
            <a:r>
              <a:rPr sz="1000" b="1" i="0" spc="150">
                <a:solidFill>
                  <a:srgbClr val="6F7A9A"/>
                </a:solidFill>
                <a:latin typeface="Segoe UI"/>
              </a:rPr>
              <a:t>BUYER DEPOSIT</a:t>
            </a:r>
          </a:p>
        </p:txBody>
      </p:sp>
      <p:sp>
        <p:nvSpPr>
          <p:cNvPr id="13" name="TextBox 12"/>
          <p:cNvSpPr txBox="1"/>
          <p:nvPr/>
        </p:nvSpPr>
        <p:spPr>
          <a:xfrm>
            <a:off x="7836408" y="1572768"/>
            <a:ext cx="1554480" cy="457200"/>
          </a:xfrm>
          <a:prstGeom prst="rect">
            <a:avLst/>
          </a:prstGeom>
          <a:noFill/>
        </p:spPr>
        <p:txBody>
          <a:bodyPr wrap="square" lIns="0" rIns="0" tIns="0" bIns="0" anchor="t">
            <a:noAutofit/>
          </a:bodyPr>
          <a:lstStyle/>
          <a:p>
            <a:pPr algn="l">
              <a:lnSpc>
                <a:spcPct val="100000"/>
              </a:lnSpc>
            </a:pPr>
            <a:r>
              <a:rPr sz="2400" b="1" i="0">
                <a:solidFill>
                  <a:srgbClr val="14F195"/>
                </a:solidFill>
                <a:latin typeface="Segoe UI"/>
              </a:rPr>
              <a:t>D</a:t>
            </a:r>
            <a:r>
              <a:rPr sz="2400" b="1" i="0">
                <a:solidFill>
                  <a:srgbClr val="F4F6FF"/>
                </a:solidFill>
                <a:latin typeface="Segoe UI"/>
              </a:rPr>
              <a:t> = 2,000</a:t>
            </a:r>
          </a:p>
        </p:txBody>
      </p:sp>
      <p:sp>
        <p:nvSpPr>
          <p:cNvPr id="14" name="TextBox 13"/>
          <p:cNvSpPr txBox="1"/>
          <p:nvPr/>
        </p:nvSpPr>
        <p:spPr>
          <a:xfrm>
            <a:off x="7836408" y="2057400"/>
            <a:ext cx="1554480" cy="27432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locked on reserve</a:t>
            </a:r>
          </a:p>
        </p:txBody>
      </p:sp>
      <p:cxnSp>
        <p:nvCxnSpPr>
          <p:cNvPr id="15" name="Connector 14"/>
          <p:cNvCxnSpPr/>
          <p:nvPr/>
        </p:nvCxnSpPr>
        <p:spPr>
          <a:xfrm>
            <a:off x="8572500" y="2514600"/>
            <a:ext cx="0" cy="530352"/>
          </a:xfrm>
          <a:prstGeom prst="line">
            <a:avLst/>
          </a:prstGeom>
          <a:ln w="25400">
            <a:solidFill>
              <a:srgbClr val="14F195"/>
            </a:solidFill>
            <a:tailEnd type="triangle" w="med" len="med"/>
          </a:ln>
        </p:spPr>
      </p:cxnSp>
      <p:sp>
        <p:nvSpPr>
          <p:cNvPr id="16" name="Rounded Rectangle 15"/>
          <p:cNvSpPr/>
          <p:nvPr/>
        </p:nvSpPr>
        <p:spPr>
          <a:xfrm>
            <a:off x="9692640" y="1143000"/>
            <a:ext cx="1874519" cy="1325880"/>
          </a:xfrm>
          <a:prstGeom prst="roundRect">
            <a:avLst>
              <a:gd name="adj" fmla="val 11034"/>
            </a:avLst>
          </a:prstGeom>
          <a:solidFill>
            <a:srgbClr val="141C35"/>
          </a:solidFill>
          <a:ln w="12700">
            <a:solidFill>
              <a:srgbClr val="243055"/>
            </a:solidFill>
          </a:ln>
        </p:spPr>
        <p:txBody>
          <a:bodyPr rtlCol="0" anchor="ctr"/>
          <a:lstStyle/>
          <a:p>
            <a:pPr algn="ctr"/>
          </a:p>
        </p:txBody>
      </p:sp>
      <p:sp>
        <p:nvSpPr>
          <p:cNvPr id="17" name="TextBox 16"/>
          <p:cNvSpPr txBox="1"/>
          <p:nvPr/>
        </p:nvSpPr>
        <p:spPr>
          <a:xfrm>
            <a:off x="9893808" y="1298448"/>
            <a:ext cx="1554480" cy="274320"/>
          </a:xfrm>
          <a:prstGeom prst="rect">
            <a:avLst/>
          </a:prstGeom>
          <a:noFill/>
        </p:spPr>
        <p:txBody>
          <a:bodyPr wrap="square" lIns="0" rIns="0" tIns="0" bIns="0" anchor="t">
            <a:noAutofit/>
          </a:bodyPr>
          <a:lstStyle/>
          <a:p>
            <a:pPr algn="l">
              <a:lnSpc>
                <a:spcPct val="100000"/>
              </a:lnSpc>
            </a:pPr>
            <a:r>
              <a:rPr sz="1000" b="1" i="0" spc="150">
                <a:solidFill>
                  <a:srgbClr val="6F7A9A"/>
                </a:solidFill>
                <a:latin typeface="Segoe UI"/>
              </a:rPr>
              <a:t>SELLER STAKE</a:t>
            </a:r>
          </a:p>
        </p:txBody>
      </p:sp>
      <p:sp>
        <p:nvSpPr>
          <p:cNvPr id="18" name="TextBox 17"/>
          <p:cNvSpPr txBox="1"/>
          <p:nvPr/>
        </p:nvSpPr>
        <p:spPr>
          <a:xfrm>
            <a:off x="9893808" y="1572768"/>
            <a:ext cx="1554480" cy="457200"/>
          </a:xfrm>
          <a:prstGeom prst="rect">
            <a:avLst/>
          </a:prstGeom>
          <a:noFill/>
        </p:spPr>
        <p:txBody>
          <a:bodyPr wrap="square" lIns="0" rIns="0" tIns="0" bIns="0" anchor="t">
            <a:noAutofit/>
          </a:bodyPr>
          <a:lstStyle/>
          <a:p>
            <a:pPr algn="l">
              <a:lnSpc>
                <a:spcPct val="100000"/>
              </a:lnSpc>
            </a:pPr>
            <a:r>
              <a:rPr sz="2400" b="1" i="0">
                <a:solidFill>
                  <a:srgbClr val="8B5CF6"/>
                </a:solidFill>
                <a:latin typeface="Segoe UI"/>
              </a:rPr>
              <a:t>S</a:t>
            </a:r>
            <a:r>
              <a:rPr sz="2400" b="1" i="0">
                <a:solidFill>
                  <a:srgbClr val="F4F6FF"/>
                </a:solidFill>
                <a:latin typeface="Segoe UI"/>
              </a:rPr>
              <a:t> = 2,000</a:t>
            </a:r>
          </a:p>
        </p:txBody>
      </p:sp>
      <p:sp>
        <p:nvSpPr>
          <p:cNvPr id="19" name="TextBox 18"/>
          <p:cNvSpPr txBox="1"/>
          <p:nvPr/>
        </p:nvSpPr>
        <p:spPr>
          <a:xfrm>
            <a:off x="9893808" y="2057400"/>
            <a:ext cx="1554480" cy="27432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locked first</a:t>
            </a:r>
          </a:p>
        </p:txBody>
      </p:sp>
      <p:cxnSp>
        <p:nvCxnSpPr>
          <p:cNvPr id="20" name="Connector 19"/>
          <p:cNvCxnSpPr/>
          <p:nvPr/>
        </p:nvCxnSpPr>
        <p:spPr>
          <a:xfrm>
            <a:off x="10629900" y="2514600"/>
            <a:ext cx="0" cy="530352"/>
          </a:xfrm>
          <a:prstGeom prst="line">
            <a:avLst/>
          </a:prstGeom>
          <a:ln w="25400">
            <a:solidFill>
              <a:srgbClr val="8B5CF6"/>
            </a:solidFill>
            <a:tailEnd type="triangle" w="med" len="med"/>
          </a:ln>
        </p:spPr>
      </p:cxnSp>
      <p:sp>
        <p:nvSpPr>
          <p:cNvPr id="21" name="Rounded Rectangle 20"/>
          <p:cNvSpPr/>
          <p:nvPr/>
        </p:nvSpPr>
        <p:spPr>
          <a:xfrm>
            <a:off x="7635240" y="3108960"/>
            <a:ext cx="3931920" cy="1600200"/>
          </a:xfrm>
          <a:prstGeom prst="roundRect">
            <a:avLst>
              <a:gd name="adj" fmla="val 10285"/>
            </a:avLst>
          </a:prstGeom>
          <a:gradFill rotWithShape="1">
            <a:gsLst>
              <a:gs pos="0">
                <a:srgbClr val="9945FF"/>
              </a:gs>
              <a:gs pos="100000">
                <a:srgbClr val="14F195"/>
              </a:gs>
            </a:gsLst>
            <a:lin ang="0" scaled="0"/>
          </a:gradFill>
          <a:ln>
            <a:noFill/>
          </a:ln>
        </p:spPr>
        <p:txBody>
          <a:bodyPr rtlCol="0" anchor="ctr"/>
          <a:lstStyle/>
          <a:p>
            <a:pPr algn="ctr"/>
          </a:p>
        </p:txBody>
      </p:sp>
      <p:sp>
        <p:nvSpPr>
          <p:cNvPr id="22" name="Rounded Rectangle 21"/>
          <p:cNvSpPr/>
          <p:nvPr/>
        </p:nvSpPr>
        <p:spPr>
          <a:xfrm>
            <a:off x="7662672" y="3136392"/>
            <a:ext cx="3877056" cy="1545336"/>
          </a:xfrm>
          <a:prstGeom prst="roundRect">
            <a:avLst>
              <a:gd name="adj" fmla="val 9467"/>
            </a:avLst>
          </a:prstGeom>
          <a:solidFill>
            <a:srgbClr val="0D1330"/>
          </a:solidFill>
          <a:ln>
            <a:noFill/>
          </a:ln>
        </p:spPr>
        <p:txBody>
          <a:bodyPr rtlCol="0" anchor="ctr"/>
          <a:lstStyle/>
          <a:p>
            <a:pPr algn="ctr"/>
          </a:p>
        </p:txBody>
      </p:sp>
      <p:sp>
        <p:nvSpPr>
          <p:cNvPr id="23" name="TextBox 22"/>
          <p:cNvSpPr txBox="1"/>
          <p:nvPr/>
        </p:nvSpPr>
        <p:spPr>
          <a:xfrm>
            <a:off x="7863840" y="3291840"/>
            <a:ext cx="3566160" cy="274320"/>
          </a:xfrm>
          <a:prstGeom prst="rect">
            <a:avLst/>
          </a:prstGeom>
          <a:noFill/>
        </p:spPr>
        <p:txBody>
          <a:bodyPr wrap="square" lIns="0" rIns="0" tIns="0" bIns="0" anchor="t">
            <a:noAutofit/>
          </a:bodyPr>
          <a:lstStyle/>
          <a:p>
            <a:pPr algn="l">
              <a:lnSpc>
                <a:spcPct val="100000"/>
              </a:lnSpc>
            </a:pPr>
            <a:r>
              <a:rPr sz="1000" b="1" i="0" spc="150">
                <a:solidFill>
                  <a:srgbClr val="6F7A9A"/>
                </a:solidFill>
                <a:latin typeface="Segoe UI"/>
              </a:rPr>
              <a:t>PROGRAM-OWNED VAULT</a:t>
            </a:r>
          </a:p>
        </p:txBody>
      </p:sp>
      <p:sp>
        <p:nvSpPr>
          <p:cNvPr id="24" name="TextBox 23"/>
          <p:cNvSpPr txBox="1"/>
          <p:nvPr/>
        </p:nvSpPr>
        <p:spPr>
          <a:xfrm>
            <a:off x="7863840" y="3566160"/>
            <a:ext cx="3566160" cy="548640"/>
          </a:xfrm>
          <a:prstGeom prst="rect">
            <a:avLst/>
          </a:prstGeom>
          <a:noFill/>
        </p:spPr>
        <p:txBody>
          <a:bodyPr wrap="square" lIns="0" rIns="0" tIns="0" bIns="0" anchor="t">
            <a:noAutofit/>
          </a:bodyPr>
          <a:lstStyle/>
          <a:p>
            <a:pPr algn="l">
              <a:lnSpc>
                <a:spcPct val="100000"/>
              </a:lnSpc>
            </a:pPr>
            <a:r>
              <a:rPr sz="3000" b="1" i="0">
                <a:gradFill rotWithShape="1">
                  <a:gsLst>
                    <a:gs pos="0">
                      <a:srgbClr val="9945FF"/>
                    </a:gs>
                    <a:gs pos="100000">
                      <a:srgbClr val="14F195"/>
                    </a:gs>
                  </a:gsLst>
                  <a:lin ang="0" scaled="0"/>
                </a:gradFill>
                <a:latin typeface="Segoe UI"/>
              </a:rPr>
              <a:t>P = 4,000</a:t>
            </a:r>
          </a:p>
        </p:txBody>
      </p:sp>
      <p:sp>
        <p:nvSpPr>
          <p:cNvPr id="25" name="TextBox 24"/>
          <p:cNvSpPr txBox="1"/>
          <p:nvPr/>
        </p:nvSpPr>
        <p:spPr>
          <a:xfrm>
            <a:off x="7863840" y="4160520"/>
            <a:ext cx="3566160" cy="320040"/>
          </a:xfrm>
          <a:prstGeom prst="rect">
            <a:avLst/>
          </a:prstGeom>
          <a:noFill/>
        </p:spPr>
        <p:txBody>
          <a:bodyPr wrap="square" lIns="0" rIns="0" tIns="0" bIns="0" anchor="t">
            <a:noAutofit/>
          </a:bodyPr>
          <a:lstStyle/>
          <a:p>
            <a:pPr algn="l">
              <a:lnSpc>
                <a:spcPct val="100000"/>
              </a:lnSpc>
            </a:pPr>
            <a:r>
              <a:rPr sz="1250" b="0" i="0">
                <a:solidFill>
                  <a:srgbClr val="B4BCD6"/>
                </a:solidFill>
                <a:latin typeface="Segoe UI"/>
              </a:rPr>
              <a:t>No one in the middle can touch it</a:t>
            </a:r>
          </a:p>
        </p:txBody>
      </p:sp>
      <p:sp>
        <p:nvSpPr>
          <p:cNvPr id="26" name="TextBox 25"/>
          <p:cNvSpPr txBox="1"/>
          <p:nvPr/>
        </p:nvSpPr>
        <p:spPr>
          <a:xfrm>
            <a:off x="7635240" y="4919472"/>
            <a:ext cx="3931920" cy="320040"/>
          </a:xfrm>
          <a:prstGeom prst="rect">
            <a:avLst/>
          </a:prstGeom>
          <a:noFill/>
        </p:spPr>
        <p:txBody>
          <a:bodyPr wrap="square" lIns="0" rIns="0" tIns="0" bIns="0" anchor="t">
            <a:noAutofit/>
          </a:bodyPr>
          <a:lstStyle/>
          <a:p>
            <a:pPr algn="ctr">
              <a:lnSpc>
                <a:spcPct val="100000"/>
              </a:lnSpc>
            </a:pPr>
            <a:r>
              <a:rPr sz="1300" b="0" i="0">
                <a:solidFill>
                  <a:srgbClr val="F4F6FF"/>
                </a:solidFill>
                <a:latin typeface="Segoe UI"/>
              </a:rPr>
              <a:t>No court, no escrow agent — just the rule</a:t>
            </a:r>
          </a:p>
        </p:txBody>
      </p:sp>
      <p:sp>
        <p:nvSpPr>
          <p:cNvPr id="27" name="Rounded Rectangle 26"/>
          <p:cNvSpPr/>
          <p:nvPr/>
        </p:nvSpPr>
        <p:spPr>
          <a:xfrm>
            <a:off x="8549640" y="5394960"/>
            <a:ext cx="2103120" cy="365760"/>
          </a:xfrm>
          <a:prstGeom prst="roundRect">
            <a:avLst>
              <a:gd name="adj" fmla="val 50000"/>
            </a:avLst>
          </a:prstGeom>
          <a:solidFill>
            <a:srgbClr val="0E2A2A"/>
          </a:solidFill>
          <a:ln w="12700">
            <a:solidFill>
              <a:srgbClr val="14F195"/>
            </a:solidFill>
          </a:ln>
        </p:spPr>
        <p:txBody>
          <a:bodyPr rtlCol="0" anchor="ctr"/>
          <a:lstStyle/>
          <a:p>
            <a:pPr algn="ctr"/>
          </a:p>
        </p:txBody>
      </p:sp>
      <p:sp>
        <p:nvSpPr>
          <p:cNvPr id="28" name="TextBox 27"/>
          <p:cNvSpPr txBox="1"/>
          <p:nvPr/>
        </p:nvSpPr>
        <p:spPr>
          <a:xfrm>
            <a:off x="8549640" y="5394960"/>
            <a:ext cx="2103120" cy="365760"/>
          </a:xfrm>
          <a:prstGeom prst="rect">
            <a:avLst/>
          </a:prstGeom>
          <a:noFill/>
        </p:spPr>
        <p:txBody>
          <a:bodyPr wrap="square" lIns="0" rIns="0" tIns="0" bIns="0" anchor="ctr">
            <a:noAutofit/>
          </a:bodyPr>
          <a:lstStyle/>
          <a:p>
            <a:pPr algn="ctr">
              <a:lnSpc>
                <a:spcPct val="100000"/>
              </a:lnSpc>
            </a:pPr>
            <a:r>
              <a:rPr sz="950" b="1" i="0" spc="100">
                <a:solidFill>
                  <a:srgbClr val="14F195"/>
                </a:solidFill>
                <a:latin typeface="Segoe UI"/>
              </a:rPr>
              <a:t>●  LIVE ON SOLANA DEVNET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02  ·  THE PROBLEM</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A deposit to a stranger is a leap of faith</a:t>
            </a:r>
          </a:p>
        </p:txBody>
      </p:sp>
      <p:sp>
        <p:nvSpPr>
          <p:cNvPr id="5" name="TextBox 4"/>
          <p:cNvSpPr txBox="1"/>
          <p:nvPr/>
        </p:nvSpPr>
        <p:spPr>
          <a:xfrm>
            <a:off x="640080" y="1371600"/>
            <a:ext cx="10881360" cy="365760"/>
          </a:xfrm>
          <a:prstGeom prst="rect">
            <a:avLst/>
          </a:prstGeom>
          <a:noFill/>
        </p:spPr>
        <p:txBody>
          <a:bodyPr wrap="square" lIns="0" rIns="0" tIns="0" bIns="0" anchor="t">
            <a:noAutofit/>
          </a:bodyPr>
          <a:lstStyle/>
          <a:p>
            <a:pPr algn="l">
              <a:lnSpc>
                <a:spcPct val="100000"/>
              </a:lnSpc>
            </a:pPr>
            <a:r>
              <a:rPr sz="1500" b="0" i="0">
                <a:solidFill>
                  <a:srgbClr val="B4BCD6"/>
                </a:solidFill>
                <a:latin typeface="Segoe UI"/>
              </a:rPr>
              <a:t>Car, real-estate and second-hand marketplaces share one weak spot: the up-front deposit.</a:t>
            </a:r>
          </a:p>
        </p:txBody>
      </p:sp>
      <p:sp>
        <p:nvSpPr>
          <p:cNvPr id="6" name="TextBox 5"/>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7" name="TextBox 6"/>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02 / 10</a:t>
            </a:r>
          </a:p>
        </p:txBody>
      </p:sp>
      <p:sp>
        <p:nvSpPr>
          <p:cNvPr id="8" name="Rounded Rectangle 7"/>
          <p:cNvSpPr/>
          <p:nvPr/>
        </p:nvSpPr>
        <p:spPr>
          <a:xfrm>
            <a:off x="640080" y="1965960"/>
            <a:ext cx="3429000" cy="1828800"/>
          </a:xfrm>
          <a:prstGeom prst="roundRect">
            <a:avLst>
              <a:gd name="adj" fmla="val 8000"/>
            </a:avLst>
          </a:prstGeom>
          <a:solidFill>
            <a:srgbClr val="0F1529"/>
          </a:solidFill>
          <a:ln w="12700">
            <a:solidFill>
              <a:srgbClr val="243055"/>
            </a:solidFill>
          </a:ln>
        </p:spPr>
        <p:txBody>
          <a:bodyPr rtlCol="0" anchor="ctr"/>
          <a:lstStyle/>
          <a:p>
            <a:pPr algn="ctr"/>
          </a:p>
        </p:txBody>
      </p:sp>
      <p:sp>
        <p:nvSpPr>
          <p:cNvPr id="9" name="Rounded Rectangle 8"/>
          <p:cNvSpPr/>
          <p:nvPr/>
        </p:nvSpPr>
        <p:spPr>
          <a:xfrm>
            <a:off x="914400" y="2212848"/>
            <a:ext cx="457200" cy="457200"/>
          </a:xfrm>
          <a:prstGeom prst="roundRect">
            <a:avLst>
              <a:gd name="adj" fmla="val 50000"/>
            </a:avLst>
          </a:prstGeom>
          <a:solidFill>
            <a:srgbClr val="3A1426"/>
          </a:solidFill>
          <a:ln>
            <a:noFill/>
          </a:ln>
        </p:spPr>
        <p:txBody>
          <a:bodyPr rtlCol="0" anchor="ctr"/>
          <a:lstStyle/>
          <a:p>
            <a:pPr algn="ctr"/>
          </a:p>
        </p:txBody>
      </p:sp>
      <p:sp>
        <p:nvSpPr>
          <p:cNvPr id="10" name="TextBox 9"/>
          <p:cNvSpPr txBox="1"/>
          <p:nvPr/>
        </p:nvSpPr>
        <p:spPr>
          <a:xfrm>
            <a:off x="914400" y="2212848"/>
            <a:ext cx="457200" cy="457200"/>
          </a:xfrm>
          <a:prstGeom prst="rect">
            <a:avLst/>
          </a:prstGeom>
          <a:noFill/>
        </p:spPr>
        <p:txBody>
          <a:bodyPr wrap="square" lIns="0" rIns="0" tIns="0" bIns="0" anchor="ctr">
            <a:noAutofit/>
          </a:bodyPr>
          <a:lstStyle/>
          <a:p>
            <a:pPr algn="ctr">
              <a:lnSpc>
                <a:spcPct val="100000"/>
              </a:lnSpc>
            </a:pPr>
            <a:r>
              <a:rPr sz="1400" b="1" i="0">
                <a:solidFill>
                  <a:srgbClr val="FF5C7A"/>
                </a:solidFill>
                <a:latin typeface="Segoe UI"/>
              </a:rPr>
              <a:t>1</a:t>
            </a:r>
          </a:p>
        </p:txBody>
      </p:sp>
      <p:sp>
        <p:nvSpPr>
          <p:cNvPr id="11" name="TextBox 10"/>
          <p:cNvSpPr txBox="1"/>
          <p:nvPr/>
        </p:nvSpPr>
        <p:spPr>
          <a:xfrm>
            <a:off x="914400" y="2788920"/>
            <a:ext cx="2926080" cy="365760"/>
          </a:xfrm>
          <a:prstGeom prst="rect">
            <a:avLst/>
          </a:prstGeom>
          <a:noFill/>
        </p:spPr>
        <p:txBody>
          <a:bodyPr wrap="square" lIns="0" rIns="0" tIns="0" bIns="0" anchor="t">
            <a:noAutofit/>
          </a:bodyPr>
          <a:lstStyle/>
          <a:p>
            <a:pPr algn="l">
              <a:lnSpc>
                <a:spcPct val="100000"/>
              </a:lnSpc>
            </a:pPr>
            <a:r>
              <a:rPr sz="1700" b="1" i="0">
                <a:solidFill>
                  <a:srgbClr val="F4F6FF"/>
                </a:solidFill>
                <a:latin typeface="Segoe UI"/>
              </a:rPr>
              <a:t>A listing that looks too good</a:t>
            </a:r>
          </a:p>
        </p:txBody>
      </p:sp>
      <p:sp>
        <p:nvSpPr>
          <p:cNvPr id="12" name="TextBox 11"/>
          <p:cNvSpPr txBox="1"/>
          <p:nvPr/>
        </p:nvSpPr>
        <p:spPr>
          <a:xfrm>
            <a:off x="914400" y="3154680"/>
            <a:ext cx="2926080" cy="59436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Car, flat or rental at a great price. The “seller” asks for a deposit to hold it.</a:t>
            </a:r>
          </a:p>
        </p:txBody>
      </p:sp>
      <p:sp>
        <p:nvSpPr>
          <p:cNvPr id="13" name="Rounded Rectangle 12"/>
          <p:cNvSpPr/>
          <p:nvPr/>
        </p:nvSpPr>
        <p:spPr>
          <a:xfrm>
            <a:off x="4416552" y="1965960"/>
            <a:ext cx="3429000" cy="1828800"/>
          </a:xfrm>
          <a:prstGeom prst="roundRect">
            <a:avLst>
              <a:gd name="adj" fmla="val 8000"/>
            </a:avLst>
          </a:prstGeom>
          <a:solidFill>
            <a:srgbClr val="0F1529"/>
          </a:solidFill>
          <a:ln w="12700">
            <a:solidFill>
              <a:srgbClr val="243055"/>
            </a:solidFill>
          </a:ln>
        </p:spPr>
        <p:txBody>
          <a:bodyPr rtlCol="0" anchor="ctr"/>
          <a:lstStyle/>
          <a:p>
            <a:pPr algn="ctr"/>
          </a:p>
        </p:txBody>
      </p:sp>
      <p:sp>
        <p:nvSpPr>
          <p:cNvPr id="14" name="Rounded Rectangle 13"/>
          <p:cNvSpPr/>
          <p:nvPr/>
        </p:nvSpPr>
        <p:spPr>
          <a:xfrm>
            <a:off x="4690872" y="2212848"/>
            <a:ext cx="457200" cy="457200"/>
          </a:xfrm>
          <a:prstGeom prst="roundRect">
            <a:avLst>
              <a:gd name="adj" fmla="val 50000"/>
            </a:avLst>
          </a:prstGeom>
          <a:solidFill>
            <a:srgbClr val="3A1426"/>
          </a:solidFill>
          <a:ln>
            <a:noFill/>
          </a:ln>
        </p:spPr>
        <p:txBody>
          <a:bodyPr rtlCol="0" anchor="ctr"/>
          <a:lstStyle/>
          <a:p>
            <a:pPr algn="ctr"/>
          </a:p>
        </p:txBody>
      </p:sp>
      <p:sp>
        <p:nvSpPr>
          <p:cNvPr id="15" name="TextBox 14"/>
          <p:cNvSpPr txBox="1"/>
          <p:nvPr/>
        </p:nvSpPr>
        <p:spPr>
          <a:xfrm>
            <a:off x="4690872" y="2212848"/>
            <a:ext cx="457200" cy="457200"/>
          </a:xfrm>
          <a:prstGeom prst="rect">
            <a:avLst/>
          </a:prstGeom>
          <a:noFill/>
        </p:spPr>
        <p:txBody>
          <a:bodyPr wrap="square" lIns="0" rIns="0" tIns="0" bIns="0" anchor="ctr">
            <a:noAutofit/>
          </a:bodyPr>
          <a:lstStyle/>
          <a:p>
            <a:pPr algn="ctr">
              <a:lnSpc>
                <a:spcPct val="100000"/>
              </a:lnSpc>
            </a:pPr>
            <a:r>
              <a:rPr sz="1400" b="1" i="0">
                <a:solidFill>
                  <a:srgbClr val="FF5C7A"/>
                </a:solidFill>
                <a:latin typeface="Segoe UI"/>
              </a:rPr>
              <a:t>2</a:t>
            </a:r>
          </a:p>
        </p:txBody>
      </p:sp>
      <p:sp>
        <p:nvSpPr>
          <p:cNvPr id="16" name="TextBox 15"/>
          <p:cNvSpPr txBox="1"/>
          <p:nvPr/>
        </p:nvSpPr>
        <p:spPr>
          <a:xfrm>
            <a:off x="4690872" y="2788920"/>
            <a:ext cx="2926080" cy="365760"/>
          </a:xfrm>
          <a:prstGeom prst="rect">
            <a:avLst/>
          </a:prstGeom>
          <a:noFill/>
        </p:spPr>
        <p:txBody>
          <a:bodyPr wrap="square" lIns="0" rIns="0" tIns="0" bIns="0" anchor="t">
            <a:noAutofit/>
          </a:bodyPr>
          <a:lstStyle/>
          <a:p>
            <a:pPr algn="l">
              <a:lnSpc>
                <a:spcPct val="100000"/>
              </a:lnSpc>
            </a:pPr>
            <a:r>
              <a:rPr sz="1700" b="1" i="0">
                <a:solidFill>
                  <a:srgbClr val="F4F6FF"/>
                </a:solidFill>
                <a:latin typeface="Segoe UI"/>
              </a:rPr>
              <a:t>Paid by bank transfer</a:t>
            </a:r>
          </a:p>
        </p:txBody>
      </p:sp>
      <p:sp>
        <p:nvSpPr>
          <p:cNvPr id="17" name="TextBox 16"/>
          <p:cNvSpPr txBox="1"/>
          <p:nvPr/>
        </p:nvSpPr>
        <p:spPr>
          <a:xfrm>
            <a:off x="4690872" y="3154680"/>
            <a:ext cx="2926080" cy="59436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Straight to a stranger’s IBAN. No vault, no conditions, no undo.</a:t>
            </a:r>
          </a:p>
        </p:txBody>
      </p:sp>
      <p:sp>
        <p:nvSpPr>
          <p:cNvPr id="18" name="Rounded Rectangle 17"/>
          <p:cNvSpPr/>
          <p:nvPr/>
        </p:nvSpPr>
        <p:spPr>
          <a:xfrm>
            <a:off x="8193023" y="1965960"/>
            <a:ext cx="3429000" cy="1828800"/>
          </a:xfrm>
          <a:prstGeom prst="roundRect">
            <a:avLst>
              <a:gd name="adj" fmla="val 8000"/>
            </a:avLst>
          </a:prstGeom>
          <a:solidFill>
            <a:srgbClr val="0F1529"/>
          </a:solidFill>
          <a:ln w="12700">
            <a:solidFill>
              <a:srgbClr val="243055"/>
            </a:solidFill>
          </a:ln>
        </p:spPr>
        <p:txBody>
          <a:bodyPr rtlCol="0" anchor="ctr"/>
          <a:lstStyle/>
          <a:p>
            <a:pPr algn="ctr"/>
          </a:p>
        </p:txBody>
      </p:sp>
      <p:sp>
        <p:nvSpPr>
          <p:cNvPr id="19" name="Rounded Rectangle 18"/>
          <p:cNvSpPr/>
          <p:nvPr/>
        </p:nvSpPr>
        <p:spPr>
          <a:xfrm>
            <a:off x="8467344" y="2212848"/>
            <a:ext cx="457200" cy="457200"/>
          </a:xfrm>
          <a:prstGeom prst="roundRect">
            <a:avLst>
              <a:gd name="adj" fmla="val 50000"/>
            </a:avLst>
          </a:prstGeom>
          <a:solidFill>
            <a:srgbClr val="3A1426"/>
          </a:solidFill>
          <a:ln>
            <a:noFill/>
          </a:ln>
        </p:spPr>
        <p:txBody>
          <a:bodyPr rtlCol="0" anchor="ctr"/>
          <a:lstStyle/>
          <a:p>
            <a:pPr algn="ctr"/>
          </a:p>
        </p:txBody>
      </p:sp>
      <p:sp>
        <p:nvSpPr>
          <p:cNvPr id="20" name="TextBox 19"/>
          <p:cNvSpPr txBox="1"/>
          <p:nvPr/>
        </p:nvSpPr>
        <p:spPr>
          <a:xfrm>
            <a:off x="8467344" y="2212848"/>
            <a:ext cx="457200" cy="457200"/>
          </a:xfrm>
          <a:prstGeom prst="rect">
            <a:avLst/>
          </a:prstGeom>
          <a:noFill/>
        </p:spPr>
        <p:txBody>
          <a:bodyPr wrap="square" lIns="0" rIns="0" tIns="0" bIns="0" anchor="ctr">
            <a:noAutofit/>
          </a:bodyPr>
          <a:lstStyle/>
          <a:p>
            <a:pPr algn="ctr">
              <a:lnSpc>
                <a:spcPct val="100000"/>
              </a:lnSpc>
            </a:pPr>
            <a:r>
              <a:rPr sz="1400" b="1" i="0">
                <a:solidFill>
                  <a:srgbClr val="FF5C7A"/>
                </a:solidFill>
                <a:latin typeface="Segoe UI"/>
              </a:rPr>
              <a:t>3</a:t>
            </a:r>
          </a:p>
        </p:txBody>
      </p:sp>
      <p:sp>
        <p:nvSpPr>
          <p:cNvPr id="21" name="TextBox 20"/>
          <p:cNvSpPr txBox="1"/>
          <p:nvPr/>
        </p:nvSpPr>
        <p:spPr>
          <a:xfrm>
            <a:off x="8467344" y="2788920"/>
            <a:ext cx="2926080" cy="365760"/>
          </a:xfrm>
          <a:prstGeom prst="rect">
            <a:avLst/>
          </a:prstGeom>
          <a:noFill/>
        </p:spPr>
        <p:txBody>
          <a:bodyPr wrap="square" lIns="0" rIns="0" tIns="0" bIns="0" anchor="t">
            <a:noAutofit/>
          </a:bodyPr>
          <a:lstStyle/>
          <a:p>
            <a:pPr algn="l">
              <a:lnSpc>
                <a:spcPct val="100000"/>
              </a:lnSpc>
            </a:pPr>
            <a:r>
              <a:rPr sz="1700" b="1" i="0">
                <a:solidFill>
                  <a:srgbClr val="F4F6FF"/>
                </a:solidFill>
                <a:latin typeface="Segoe UI"/>
              </a:rPr>
              <a:t>Then the seller disappears</a:t>
            </a:r>
          </a:p>
        </p:txBody>
      </p:sp>
      <p:sp>
        <p:nvSpPr>
          <p:cNvPr id="22" name="TextBox 21"/>
          <p:cNvSpPr txBox="1"/>
          <p:nvPr/>
        </p:nvSpPr>
        <p:spPr>
          <a:xfrm>
            <a:off x="8467344" y="3154680"/>
            <a:ext cx="2926080" cy="59436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Listing deleted, phone offline. No history to check, nobody to chase.</a:t>
            </a:r>
          </a:p>
        </p:txBody>
      </p:sp>
      <p:sp>
        <p:nvSpPr>
          <p:cNvPr id="23" name="Rounded Rectangle 22"/>
          <p:cNvSpPr/>
          <p:nvPr/>
        </p:nvSpPr>
        <p:spPr>
          <a:xfrm>
            <a:off x="640080" y="4069080"/>
            <a:ext cx="10954512" cy="2011680"/>
          </a:xfrm>
          <a:prstGeom prst="roundRect">
            <a:avLst>
              <a:gd name="adj" fmla="val 7272"/>
            </a:avLst>
          </a:prstGeom>
          <a:solidFill>
            <a:srgbClr val="11122C"/>
          </a:solidFill>
          <a:ln w="12700">
            <a:solidFill>
              <a:srgbClr val="3B2D6E"/>
            </a:solidFill>
          </a:ln>
        </p:spPr>
        <p:txBody>
          <a:bodyPr rtlCol="0" anchor="ctr"/>
          <a:lstStyle/>
          <a:p>
            <a:pPr algn="ctr"/>
          </a:p>
        </p:txBody>
      </p:sp>
      <p:sp>
        <p:nvSpPr>
          <p:cNvPr id="24" name="TextBox 23"/>
          <p:cNvSpPr txBox="1"/>
          <p:nvPr/>
        </p:nvSpPr>
        <p:spPr>
          <a:xfrm>
            <a:off x="960120" y="4297680"/>
            <a:ext cx="2743200" cy="274320"/>
          </a:xfrm>
          <a:prstGeom prst="rect">
            <a:avLst/>
          </a:prstGeom>
          <a:noFill/>
        </p:spPr>
        <p:txBody>
          <a:bodyPr wrap="square" lIns="0" rIns="0" tIns="0" bIns="0" anchor="t">
            <a:noAutofit/>
          </a:bodyPr>
          <a:lstStyle/>
          <a:p>
            <a:pPr algn="l">
              <a:lnSpc>
                <a:spcPct val="100000"/>
              </a:lnSpc>
            </a:pPr>
            <a:r>
              <a:rPr sz="1050" b="1" i="0" spc="150">
                <a:solidFill>
                  <a:srgbClr val="6F7A9A"/>
                </a:solidFill>
                <a:latin typeface="Segoe UI"/>
              </a:rPr>
              <a:t>POLISH CIVIL CODE</a:t>
            </a:r>
          </a:p>
        </p:txBody>
      </p:sp>
      <p:sp>
        <p:nvSpPr>
          <p:cNvPr id="25" name="TextBox 24"/>
          <p:cNvSpPr txBox="1"/>
          <p:nvPr/>
        </p:nvSpPr>
        <p:spPr>
          <a:xfrm>
            <a:off x="914400" y="4553712"/>
            <a:ext cx="2743200" cy="777240"/>
          </a:xfrm>
          <a:prstGeom prst="rect">
            <a:avLst/>
          </a:prstGeom>
          <a:noFill/>
        </p:spPr>
        <p:txBody>
          <a:bodyPr wrap="square" lIns="0" rIns="0" tIns="0" bIns="0" anchor="t">
            <a:noAutofit/>
          </a:bodyPr>
          <a:lstStyle/>
          <a:p>
            <a:pPr algn="l">
              <a:lnSpc>
                <a:spcPct val="100000"/>
              </a:lnSpc>
            </a:pPr>
            <a:r>
              <a:rPr sz="4400" b="1" i="0">
                <a:gradFill rotWithShape="1">
                  <a:gsLst>
                    <a:gs pos="0">
                      <a:srgbClr val="9945FF"/>
                    </a:gs>
                    <a:gs pos="100000">
                      <a:srgbClr val="14F195"/>
                    </a:gs>
                  </a:gsLst>
                  <a:lin ang="0" scaled="0"/>
                </a:gradFill>
                <a:latin typeface="Segoe UI"/>
              </a:rPr>
              <a:t>Art. 394</a:t>
            </a:r>
          </a:p>
        </p:txBody>
      </p:sp>
      <p:sp>
        <p:nvSpPr>
          <p:cNvPr id="26" name="TextBox 25"/>
          <p:cNvSpPr txBox="1"/>
          <p:nvPr/>
        </p:nvSpPr>
        <p:spPr>
          <a:xfrm>
            <a:off x="960120" y="5349240"/>
            <a:ext cx="2743200" cy="365760"/>
          </a:xfrm>
          <a:prstGeom prst="rect">
            <a:avLst/>
          </a:prstGeom>
          <a:noFill/>
        </p:spPr>
        <p:txBody>
          <a:bodyPr wrap="square" lIns="0" rIns="0" tIns="0" bIns="0" anchor="t">
            <a:noAutofit/>
          </a:bodyPr>
          <a:lstStyle/>
          <a:p>
            <a:pPr algn="l">
              <a:lnSpc>
                <a:spcPct val="100000"/>
              </a:lnSpc>
            </a:pPr>
            <a:r>
              <a:rPr sz="1400" b="0" i="1">
                <a:solidFill>
                  <a:srgbClr val="B4BCD6"/>
                </a:solidFill>
                <a:latin typeface="Segoe UI"/>
              </a:rPr>
              <a:t>“zadatek” (earnest money)</a:t>
            </a:r>
          </a:p>
        </p:txBody>
      </p:sp>
      <p:sp>
        <p:nvSpPr>
          <p:cNvPr id="27" name="TextBox 26"/>
          <p:cNvSpPr txBox="1"/>
          <p:nvPr/>
        </p:nvSpPr>
        <p:spPr>
          <a:xfrm>
            <a:off x="3977639" y="4343400"/>
            <a:ext cx="7315200" cy="914400"/>
          </a:xfrm>
          <a:prstGeom prst="rect">
            <a:avLst/>
          </a:prstGeom>
          <a:noFill/>
        </p:spPr>
        <p:txBody>
          <a:bodyPr wrap="square" lIns="0" rIns="0" tIns="0" bIns="0" anchor="t">
            <a:noAutofit/>
          </a:bodyPr>
          <a:lstStyle/>
          <a:p>
            <a:pPr algn="l">
              <a:lnSpc>
                <a:spcPct val="100000"/>
              </a:lnSpc>
              <a:spcAft>
                <a:spcPts val="600"/>
              </a:spcAft>
            </a:pPr>
            <a:r>
              <a:rPr sz="1700" b="0" i="0">
                <a:solidFill>
                  <a:srgbClr val="B4BCD6"/>
                </a:solidFill>
                <a:latin typeface="Segoe UI"/>
              </a:rPr>
              <a:t>Buyer backs out  →  </a:t>
            </a:r>
            <a:r>
              <a:rPr sz="1700" b="1" i="0">
                <a:solidFill>
                  <a:srgbClr val="F4F6FF"/>
                </a:solidFill>
                <a:latin typeface="Segoe UI"/>
              </a:rPr>
              <a:t>seller keeps the deposit.</a:t>
            </a:r>
          </a:p>
          <a:p>
            <a:pPr algn="l">
              <a:lnSpc>
                <a:spcPct val="100000"/>
              </a:lnSpc>
            </a:pPr>
            <a:r>
              <a:rPr sz="1700" b="0" i="0">
                <a:solidFill>
                  <a:srgbClr val="B4BCD6"/>
                </a:solidFill>
                <a:latin typeface="Segoe UI"/>
              </a:rPr>
              <a:t>Seller backs out  →  </a:t>
            </a:r>
            <a:r>
              <a:rPr sz="1700" b="1" i="0">
                <a:solidFill>
                  <a:srgbClr val="F4F6FF"/>
                </a:solidFill>
                <a:latin typeface="Segoe UI"/>
              </a:rPr>
              <a:t>buyer gets double back.</a:t>
            </a:r>
          </a:p>
        </p:txBody>
      </p:sp>
      <p:sp>
        <p:nvSpPr>
          <p:cNvPr id="28" name="TextBox 27"/>
          <p:cNvSpPr txBox="1"/>
          <p:nvPr/>
        </p:nvSpPr>
        <p:spPr>
          <a:xfrm>
            <a:off x="3977639" y="5138928"/>
            <a:ext cx="7315200" cy="731520"/>
          </a:xfrm>
          <a:prstGeom prst="rect">
            <a:avLst/>
          </a:prstGeom>
          <a:noFill/>
        </p:spPr>
        <p:txBody>
          <a:bodyPr wrap="square" lIns="0" rIns="0" tIns="0" bIns="0" anchor="t">
            <a:noAutofit/>
          </a:bodyPr>
          <a:lstStyle/>
          <a:p>
            <a:pPr algn="l">
              <a:lnSpc>
                <a:spcPct val="100000"/>
              </a:lnSpc>
              <a:spcAft>
                <a:spcPts val="200"/>
              </a:spcAft>
            </a:pPr>
            <a:r>
              <a:rPr sz="1500" b="0" i="0">
                <a:solidFill>
                  <a:srgbClr val="F4F6FF"/>
                </a:solidFill>
                <a:latin typeface="Segoe UI"/>
              </a:rPr>
              <a:t>The law already says who pays.</a:t>
            </a:r>
          </a:p>
          <a:p>
            <a:pPr algn="l">
              <a:lnSpc>
                <a:spcPct val="100000"/>
              </a:lnSpc>
            </a:pPr>
            <a:r>
              <a:rPr sz="1500" b="1" i="0">
                <a:solidFill>
                  <a:srgbClr val="14F195"/>
                </a:solidFill>
                <a:latin typeface="Segoe UI"/>
              </a:rPr>
              <a:t>But nobody sues a stranger over a few thousand złoty.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03  ·  TARGET USER &amp; DESIGN RATIONALE</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Who it’s for — and what we redesigned</a:t>
            </a:r>
          </a:p>
        </p:txBody>
      </p:sp>
      <p:sp>
        <p:nvSpPr>
          <p:cNvPr id="5" name="TextBox 4"/>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6" name="TextBox 5"/>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03 / 10</a:t>
            </a:r>
          </a:p>
        </p:txBody>
      </p:sp>
      <p:sp>
        <p:nvSpPr>
          <p:cNvPr id="7" name="Rounded Rectangle 6"/>
          <p:cNvSpPr/>
          <p:nvPr/>
        </p:nvSpPr>
        <p:spPr>
          <a:xfrm>
            <a:off x="640080" y="1600200"/>
            <a:ext cx="4251960" cy="4526280"/>
          </a:xfrm>
          <a:prstGeom prst="roundRect">
            <a:avLst>
              <a:gd name="adj" fmla="val 3440"/>
            </a:avLst>
          </a:prstGeom>
          <a:solidFill>
            <a:srgbClr val="0D1A26"/>
          </a:solidFill>
          <a:ln w="12700">
            <a:solidFill>
              <a:srgbClr val="1B5B54"/>
            </a:solidFill>
          </a:ln>
        </p:spPr>
        <p:txBody>
          <a:bodyPr rtlCol="0" anchor="ctr"/>
          <a:lstStyle/>
          <a:p>
            <a:pPr algn="ctr"/>
          </a:p>
        </p:txBody>
      </p:sp>
      <p:sp>
        <p:nvSpPr>
          <p:cNvPr id="8" name="TextBox 7"/>
          <p:cNvSpPr txBox="1"/>
          <p:nvPr/>
        </p:nvSpPr>
        <p:spPr>
          <a:xfrm>
            <a:off x="914400" y="1810512"/>
            <a:ext cx="3749039" cy="274320"/>
          </a:xfrm>
          <a:prstGeom prst="rect">
            <a:avLst/>
          </a:prstGeom>
          <a:noFill/>
        </p:spPr>
        <p:txBody>
          <a:bodyPr wrap="square" lIns="0" rIns="0" tIns="0" bIns="0" anchor="t">
            <a:noAutofit/>
          </a:bodyPr>
          <a:lstStyle/>
          <a:p>
            <a:pPr algn="l">
              <a:lnSpc>
                <a:spcPct val="100000"/>
              </a:lnSpc>
            </a:pPr>
            <a:r>
              <a:rPr sz="1050" b="1" i="0" spc="200">
                <a:solidFill>
                  <a:srgbClr val="14F195"/>
                </a:solidFill>
                <a:latin typeface="Segoe UI"/>
              </a:rPr>
              <a:t>PRIMARY USER</a:t>
            </a:r>
          </a:p>
        </p:txBody>
      </p:sp>
      <p:sp>
        <p:nvSpPr>
          <p:cNvPr id="9" name="TextBox 8"/>
          <p:cNvSpPr txBox="1"/>
          <p:nvPr/>
        </p:nvSpPr>
        <p:spPr>
          <a:xfrm>
            <a:off x="914400" y="2121408"/>
            <a:ext cx="3749039" cy="1463040"/>
          </a:xfrm>
          <a:prstGeom prst="rect">
            <a:avLst/>
          </a:prstGeom>
          <a:noFill/>
        </p:spPr>
        <p:txBody>
          <a:bodyPr wrap="square" lIns="0" rIns="0" tIns="0" bIns="0" anchor="t">
            <a:noAutofit/>
          </a:bodyPr>
          <a:lstStyle/>
          <a:p>
            <a:pPr algn="l">
              <a:lnSpc>
                <a:spcPct val="100000"/>
              </a:lnSpc>
            </a:pPr>
            <a:r>
              <a:rPr sz="1800" b="1" i="0">
                <a:solidFill>
                  <a:srgbClr val="F4F6FF"/>
                </a:solidFill>
                <a:latin typeface="Segoe UI"/>
              </a:rPr>
              <a:t>People in Poland paying a zadatek to strangers from listing sites — and their sellers.</a:t>
            </a:r>
          </a:p>
        </p:txBody>
      </p:sp>
      <p:sp>
        <p:nvSpPr>
          <p:cNvPr id="10" name="TextBox 9"/>
          <p:cNvSpPr txBox="1"/>
          <p:nvPr/>
        </p:nvSpPr>
        <p:spPr>
          <a:xfrm>
            <a:off x="914400" y="3429000"/>
            <a:ext cx="3749039" cy="822960"/>
          </a:xfrm>
          <a:prstGeom prst="rect">
            <a:avLst/>
          </a:prstGeom>
          <a:noFill/>
        </p:spPr>
        <p:txBody>
          <a:bodyPr wrap="square" lIns="0" rIns="0" tIns="0" bIns="0" anchor="t">
            <a:noAutofit/>
          </a:bodyPr>
          <a:lstStyle/>
          <a:p>
            <a:pPr algn="l">
              <a:lnSpc>
                <a:spcPct val="100000"/>
              </a:lnSpc>
            </a:pPr>
            <a:r>
              <a:rPr sz="1300" b="0" i="0">
                <a:solidFill>
                  <a:srgbClr val="B4BCD6"/>
                </a:solidFill>
                <a:latin typeface="Segoe UI"/>
              </a:rPr>
              <a:t>Not crypto users. The app says “account”, shows amounts in PLN and hides the chain.</a:t>
            </a:r>
          </a:p>
        </p:txBody>
      </p:sp>
      <p:cxnSp>
        <p:nvCxnSpPr>
          <p:cNvPr id="11" name="Connector 10"/>
          <p:cNvCxnSpPr/>
          <p:nvPr/>
        </p:nvCxnSpPr>
        <p:spPr>
          <a:xfrm>
            <a:off x="914400" y="4434840"/>
            <a:ext cx="3703320" cy="0"/>
          </a:xfrm>
          <a:prstGeom prst="line">
            <a:avLst/>
          </a:prstGeom>
          <a:ln w="12700">
            <a:solidFill>
              <a:srgbClr val="1B5B54"/>
            </a:solidFill>
          </a:ln>
        </p:spPr>
      </p:cxnSp>
      <p:sp>
        <p:nvSpPr>
          <p:cNvPr id="12" name="TextBox 11"/>
          <p:cNvSpPr txBox="1"/>
          <p:nvPr/>
        </p:nvSpPr>
        <p:spPr>
          <a:xfrm>
            <a:off x="914400" y="4617720"/>
            <a:ext cx="3749039" cy="274320"/>
          </a:xfrm>
          <a:prstGeom prst="rect">
            <a:avLst/>
          </a:prstGeom>
          <a:noFill/>
        </p:spPr>
        <p:txBody>
          <a:bodyPr wrap="square" lIns="0" rIns="0" tIns="0" bIns="0" anchor="t">
            <a:noAutofit/>
          </a:bodyPr>
          <a:lstStyle/>
          <a:p>
            <a:pPr algn="l">
              <a:lnSpc>
                <a:spcPct val="100000"/>
              </a:lnSpc>
            </a:pPr>
            <a:r>
              <a:rPr sz="1050" b="1" i="0" spc="200">
                <a:solidFill>
                  <a:srgbClr val="8B5CF6"/>
                </a:solidFill>
                <a:latin typeface="Segoe UI"/>
              </a:rPr>
              <a:t>SECONDARY USER</a:t>
            </a:r>
          </a:p>
        </p:txBody>
      </p:sp>
      <p:sp>
        <p:nvSpPr>
          <p:cNvPr id="13" name="TextBox 12"/>
          <p:cNvSpPr txBox="1"/>
          <p:nvPr/>
        </p:nvSpPr>
        <p:spPr>
          <a:xfrm>
            <a:off x="914400" y="4937760"/>
            <a:ext cx="3749039" cy="1005840"/>
          </a:xfrm>
          <a:prstGeom prst="rect">
            <a:avLst/>
          </a:prstGeom>
          <a:noFill/>
        </p:spPr>
        <p:txBody>
          <a:bodyPr wrap="square" lIns="0" rIns="0" tIns="0" bIns="0" anchor="t">
            <a:noAutofit/>
          </a:bodyPr>
          <a:lstStyle/>
          <a:p>
            <a:pPr algn="l">
              <a:lnSpc>
                <a:spcPct val="100000"/>
              </a:lnSpc>
            </a:pPr>
            <a:r>
              <a:rPr sz="1450" b="0" i="0">
                <a:solidFill>
                  <a:srgbClr val="F4F6FF"/>
                </a:solidFill>
                <a:latin typeface="Segoe UI"/>
              </a:rPr>
              <a:t>Marketplaces that embed the widget — our distribution channel.</a:t>
            </a:r>
          </a:p>
        </p:txBody>
      </p:sp>
      <p:sp>
        <p:nvSpPr>
          <p:cNvPr id="14" name="Rounded Rectangle 13"/>
          <p:cNvSpPr/>
          <p:nvPr/>
        </p:nvSpPr>
        <p:spPr>
          <a:xfrm>
            <a:off x="5166360" y="1600200"/>
            <a:ext cx="6428232" cy="1417320"/>
          </a:xfrm>
          <a:prstGeom prst="roundRect">
            <a:avLst>
              <a:gd name="adj" fmla="val 10322"/>
            </a:avLst>
          </a:prstGeom>
          <a:solidFill>
            <a:srgbClr val="0F1529"/>
          </a:solidFill>
          <a:ln w="12700">
            <a:solidFill>
              <a:srgbClr val="243055"/>
            </a:solidFill>
          </a:ln>
        </p:spPr>
        <p:txBody>
          <a:bodyPr rtlCol="0" anchor="ctr"/>
          <a:lstStyle/>
          <a:p>
            <a:pPr algn="ctr"/>
          </a:p>
        </p:txBody>
      </p:sp>
      <p:sp>
        <p:nvSpPr>
          <p:cNvPr id="15" name="Rounded Rectangle 14"/>
          <p:cNvSpPr/>
          <p:nvPr/>
        </p:nvSpPr>
        <p:spPr>
          <a:xfrm>
            <a:off x="5413248" y="1801368"/>
            <a:ext cx="420624" cy="42062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16" name="TextBox 15"/>
          <p:cNvSpPr txBox="1"/>
          <p:nvPr/>
        </p:nvSpPr>
        <p:spPr>
          <a:xfrm>
            <a:off x="5413248" y="1801368"/>
            <a:ext cx="420624" cy="420624"/>
          </a:xfrm>
          <a:prstGeom prst="rect">
            <a:avLst/>
          </a:prstGeom>
          <a:noFill/>
        </p:spPr>
        <p:txBody>
          <a:bodyPr wrap="square" lIns="0" rIns="0" tIns="0" bIns="0" anchor="ctr">
            <a:noAutofit/>
          </a:bodyPr>
          <a:lstStyle/>
          <a:p>
            <a:pPr algn="ctr">
              <a:lnSpc>
                <a:spcPct val="100000"/>
              </a:lnSpc>
            </a:pPr>
            <a:r>
              <a:rPr sz="1300" b="1" i="0">
                <a:solidFill>
                  <a:srgbClr val="0A0F22"/>
                </a:solidFill>
                <a:latin typeface="Segoe UI"/>
              </a:rPr>
              <a:t>1</a:t>
            </a:r>
          </a:p>
        </p:txBody>
      </p:sp>
      <p:sp>
        <p:nvSpPr>
          <p:cNvPr id="17" name="TextBox 16"/>
          <p:cNvSpPr txBox="1"/>
          <p:nvPr/>
        </p:nvSpPr>
        <p:spPr>
          <a:xfrm>
            <a:off x="6035040" y="1764792"/>
            <a:ext cx="5349240" cy="365760"/>
          </a:xfrm>
          <a:prstGeom prst="rect">
            <a:avLst/>
          </a:prstGeom>
          <a:noFill/>
        </p:spPr>
        <p:txBody>
          <a:bodyPr wrap="square" lIns="0" rIns="0" tIns="0" bIns="0" anchor="t">
            <a:noAutofit/>
          </a:bodyPr>
          <a:lstStyle/>
          <a:p>
            <a:pPr algn="l">
              <a:lnSpc>
                <a:spcPct val="100000"/>
              </a:lnSpc>
            </a:pPr>
            <a:r>
              <a:rPr sz="1600" b="1" i="0">
                <a:solidFill>
                  <a:srgbClr val="F4F6FF"/>
                </a:solidFill>
                <a:latin typeface="Segoe UI"/>
              </a:rPr>
              <a:t>Which relationship?</a:t>
            </a:r>
          </a:p>
        </p:txBody>
      </p:sp>
      <p:sp>
        <p:nvSpPr>
          <p:cNvPr id="18" name="TextBox 17"/>
          <p:cNvSpPr txBox="1"/>
          <p:nvPr/>
        </p:nvSpPr>
        <p:spPr>
          <a:xfrm>
            <a:off x="6035040" y="2130552"/>
            <a:ext cx="5349240" cy="822960"/>
          </a:xfrm>
          <a:prstGeom prst="rect">
            <a:avLst/>
          </a:prstGeom>
          <a:noFill/>
        </p:spPr>
        <p:txBody>
          <a:bodyPr wrap="square" lIns="0" rIns="0" tIns="0" bIns="0" anchor="t">
            <a:noAutofit/>
          </a:bodyPr>
          <a:lstStyle/>
          <a:p>
            <a:pPr algn="l">
              <a:lnSpc>
                <a:spcPct val="100000"/>
              </a:lnSpc>
            </a:pPr>
            <a:r>
              <a:rPr sz="1300" b="0" i="0">
                <a:solidFill>
                  <a:srgbClr val="B4BCD6"/>
                </a:solidFill>
                <a:latin typeface="Segoe UI"/>
              </a:rPr>
              <a:t>An up-front deposit paid to a stranger before the deal is completed.</a:t>
            </a:r>
          </a:p>
        </p:txBody>
      </p:sp>
      <p:sp>
        <p:nvSpPr>
          <p:cNvPr id="19" name="Rounded Rectangle 18"/>
          <p:cNvSpPr/>
          <p:nvPr/>
        </p:nvSpPr>
        <p:spPr>
          <a:xfrm>
            <a:off x="5166360" y="3145536"/>
            <a:ext cx="6428232" cy="1417320"/>
          </a:xfrm>
          <a:prstGeom prst="roundRect">
            <a:avLst>
              <a:gd name="adj" fmla="val 10322"/>
            </a:avLst>
          </a:prstGeom>
          <a:solidFill>
            <a:srgbClr val="0F1529"/>
          </a:solidFill>
          <a:ln w="12700">
            <a:solidFill>
              <a:srgbClr val="243055"/>
            </a:solidFill>
          </a:ln>
        </p:spPr>
        <p:txBody>
          <a:bodyPr rtlCol="0" anchor="ctr"/>
          <a:lstStyle/>
          <a:p>
            <a:pPr algn="ctr"/>
          </a:p>
        </p:txBody>
      </p:sp>
      <p:sp>
        <p:nvSpPr>
          <p:cNvPr id="20" name="Rounded Rectangle 19"/>
          <p:cNvSpPr/>
          <p:nvPr/>
        </p:nvSpPr>
        <p:spPr>
          <a:xfrm>
            <a:off x="5413248" y="3346704"/>
            <a:ext cx="420624" cy="42062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21" name="TextBox 20"/>
          <p:cNvSpPr txBox="1"/>
          <p:nvPr/>
        </p:nvSpPr>
        <p:spPr>
          <a:xfrm>
            <a:off x="5413248" y="3346704"/>
            <a:ext cx="420624" cy="420624"/>
          </a:xfrm>
          <a:prstGeom prst="rect">
            <a:avLst/>
          </a:prstGeom>
          <a:noFill/>
        </p:spPr>
        <p:txBody>
          <a:bodyPr wrap="square" lIns="0" rIns="0" tIns="0" bIns="0" anchor="ctr">
            <a:noAutofit/>
          </a:bodyPr>
          <a:lstStyle/>
          <a:p>
            <a:pPr algn="ctr">
              <a:lnSpc>
                <a:spcPct val="100000"/>
              </a:lnSpc>
            </a:pPr>
            <a:r>
              <a:rPr sz="1300" b="1" i="0">
                <a:solidFill>
                  <a:srgbClr val="0A0F22"/>
                </a:solidFill>
                <a:latin typeface="Segoe UI"/>
              </a:rPr>
              <a:t>2</a:t>
            </a:r>
          </a:p>
        </p:txBody>
      </p:sp>
      <p:sp>
        <p:nvSpPr>
          <p:cNvPr id="22" name="TextBox 21"/>
          <p:cNvSpPr txBox="1"/>
          <p:nvPr/>
        </p:nvSpPr>
        <p:spPr>
          <a:xfrm>
            <a:off x="6035040" y="3310128"/>
            <a:ext cx="5349240" cy="365760"/>
          </a:xfrm>
          <a:prstGeom prst="rect">
            <a:avLst/>
          </a:prstGeom>
          <a:noFill/>
        </p:spPr>
        <p:txBody>
          <a:bodyPr wrap="square" lIns="0" rIns="0" tIns="0" bIns="0" anchor="t">
            <a:noAutofit/>
          </a:bodyPr>
          <a:lstStyle/>
          <a:p>
            <a:pPr algn="l">
              <a:lnSpc>
                <a:spcPct val="100000"/>
              </a:lnSpc>
            </a:pPr>
            <a:r>
              <a:rPr sz="1600" b="1" i="0">
                <a:solidFill>
                  <a:srgbClr val="F4F6FF"/>
                </a:solidFill>
                <a:latin typeface="Segoe UI"/>
              </a:rPr>
              <a:t>Who was the intermediary?</a:t>
            </a:r>
          </a:p>
        </p:txBody>
      </p:sp>
      <p:sp>
        <p:nvSpPr>
          <p:cNvPr id="23" name="TextBox 22"/>
          <p:cNvSpPr txBox="1"/>
          <p:nvPr/>
        </p:nvSpPr>
        <p:spPr>
          <a:xfrm>
            <a:off x="6035040" y="3675887"/>
            <a:ext cx="5349240" cy="822960"/>
          </a:xfrm>
          <a:prstGeom prst="rect">
            <a:avLst/>
          </a:prstGeom>
          <a:noFill/>
        </p:spPr>
        <p:txBody>
          <a:bodyPr wrap="square" lIns="0" rIns="0" tIns="0" bIns="0" anchor="t">
            <a:noAutofit/>
          </a:bodyPr>
          <a:lstStyle/>
          <a:p>
            <a:pPr algn="l">
              <a:lnSpc>
                <a:spcPct val="100000"/>
              </a:lnSpc>
            </a:pPr>
            <a:r>
              <a:rPr sz="1300" b="0" i="0">
                <a:solidFill>
                  <a:srgbClr val="B4BCD6"/>
                </a:solidFill>
                <a:latin typeface="Segoe UI"/>
              </a:rPr>
              <a:t>Usually nobody — an IBAN transfer straight to the stranger. Or costly ones: a court to enforce art. 394, a notary escrow, a platform’s paid payment protection.</a:t>
            </a:r>
          </a:p>
        </p:txBody>
      </p:sp>
      <p:sp>
        <p:nvSpPr>
          <p:cNvPr id="24" name="Rounded Rectangle 23"/>
          <p:cNvSpPr/>
          <p:nvPr/>
        </p:nvSpPr>
        <p:spPr>
          <a:xfrm>
            <a:off x="5166360" y="4690872"/>
            <a:ext cx="6428232" cy="1417320"/>
          </a:xfrm>
          <a:prstGeom prst="roundRect">
            <a:avLst>
              <a:gd name="adj" fmla="val 10322"/>
            </a:avLst>
          </a:prstGeom>
          <a:solidFill>
            <a:srgbClr val="0F1529"/>
          </a:solidFill>
          <a:ln w="12700">
            <a:solidFill>
              <a:srgbClr val="243055"/>
            </a:solidFill>
          </a:ln>
        </p:spPr>
        <p:txBody>
          <a:bodyPr rtlCol="0" anchor="ctr"/>
          <a:lstStyle/>
          <a:p>
            <a:pPr algn="ctr"/>
          </a:p>
        </p:txBody>
      </p:sp>
      <p:sp>
        <p:nvSpPr>
          <p:cNvPr id="25" name="Rounded Rectangle 24"/>
          <p:cNvSpPr/>
          <p:nvPr/>
        </p:nvSpPr>
        <p:spPr>
          <a:xfrm>
            <a:off x="5413248" y="4892040"/>
            <a:ext cx="420624" cy="42062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26" name="TextBox 25"/>
          <p:cNvSpPr txBox="1"/>
          <p:nvPr/>
        </p:nvSpPr>
        <p:spPr>
          <a:xfrm>
            <a:off x="5413248" y="4892040"/>
            <a:ext cx="420624" cy="420624"/>
          </a:xfrm>
          <a:prstGeom prst="rect">
            <a:avLst/>
          </a:prstGeom>
          <a:noFill/>
        </p:spPr>
        <p:txBody>
          <a:bodyPr wrap="square" lIns="0" rIns="0" tIns="0" bIns="0" anchor="ctr">
            <a:noAutofit/>
          </a:bodyPr>
          <a:lstStyle/>
          <a:p>
            <a:pPr algn="ctr">
              <a:lnSpc>
                <a:spcPct val="100000"/>
              </a:lnSpc>
            </a:pPr>
            <a:r>
              <a:rPr sz="1300" b="1" i="0">
                <a:solidFill>
                  <a:srgbClr val="0A0F22"/>
                </a:solidFill>
                <a:latin typeface="Segoe UI"/>
              </a:rPr>
              <a:t>3</a:t>
            </a:r>
          </a:p>
        </p:txBody>
      </p:sp>
      <p:sp>
        <p:nvSpPr>
          <p:cNvPr id="27" name="TextBox 26"/>
          <p:cNvSpPr txBox="1"/>
          <p:nvPr/>
        </p:nvSpPr>
        <p:spPr>
          <a:xfrm>
            <a:off x="6035040" y="4855464"/>
            <a:ext cx="5349240" cy="365760"/>
          </a:xfrm>
          <a:prstGeom prst="rect">
            <a:avLst/>
          </a:prstGeom>
          <a:noFill/>
        </p:spPr>
        <p:txBody>
          <a:bodyPr wrap="square" lIns="0" rIns="0" tIns="0" bIns="0" anchor="t">
            <a:noAutofit/>
          </a:bodyPr>
          <a:lstStyle/>
          <a:p>
            <a:pPr algn="l">
              <a:lnSpc>
                <a:spcPct val="100000"/>
              </a:lnSpc>
            </a:pPr>
            <a:r>
              <a:rPr sz="1600" b="1" i="0">
                <a:solidFill>
                  <a:srgbClr val="F4F6FF"/>
                </a:solidFill>
                <a:latin typeface="Segoe UI"/>
              </a:rPr>
              <a:t>What changes without it?</a:t>
            </a:r>
          </a:p>
        </p:txBody>
      </p:sp>
      <p:sp>
        <p:nvSpPr>
          <p:cNvPr id="28" name="TextBox 27"/>
          <p:cNvSpPr txBox="1"/>
          <p:nvPr/>
        </p:nvSpPr>
        <p:spPr>
          <a:xfrm>
            <a:off x="6035040" y="5221224"/>
            <a:ext cx="5349240" cy="822960"/>
          </a:xfrm>
          <a:prstGeom prst="rect">
            <a:avLst/>
          </a:prstGeom>
          <a:noFill/>
        </p:spPr>
        <p:txBody>
          <a:bodyPr wrap="square" lIns="0" rIns="0" tIns="0" bIns="0" anchor="t">
            <a:noAutofit/>
          </a:bodyPr>
          <a:lstStyle/>
          <a:p>
            <a:pPr algn="l">
              <a:lnSpc>
                <a:spcPct val="100000"/>
              </a:lnSpc>
            </a:pPr>
            <a:r>
              <a:rPr sz="1300" b="0" i="0">
                <a:solidFill>
                  <a:srgbClr val="B4BCD6"/>
                </a:solidFill>
                <a:latin typeface="Segoe UI"/>
              </a:rPr>
              <a:t>The rule runs instantly, with no court: whoever backs out loses; a seller who walks pays 2×. Money waits in the program, not with either side. No fee, and nobody can block the payout.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04  ·  THE SOLUTION</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The law, as code</a:t>
            </a:r>
          </a:p>
        </p:txBody>
      </p:sp>
      <p:sp>
        <p:nvSpPr>
          <p:cNvPr id="5" name="TextBox 4"/>
          <p:cNvSpPr txBox="1"/>
          <p:nvPr/>
        </p:nvSpPr>
        <p:spPr>
          <a:xfrm>
            <a:off x="640080" y="1371600"/>
            <a:ext cx="10881360" cy="365760"/>
          </a:xfrm>
          <a:prstGeom prst="rect">
            <a:avLst/>
          </a:prstGeom>
          <a:noFill/>
        </p:spPr>
        <p:txBody>
          <a:bodyPr wrap="square" lIns="0" rIns="0" tIns="0" bIns="0" anchor="t">
            <a:noAutofit/>
          </a:bodyPr>
          <a:lstStyle/>
          <a:p>
            <a:pPr algn="l">
              <a:lnSpc>
                <a:spcPct val="100000"/>
              </a:lnSpc>
            </a:pPr>
            <a:r>
              <a:rPr sz="1500" b="0" i="0">
                <a:solidFill>
                  <a:srgbClr val="B4BCD6"/>
                </a:solidFill>
                <a:latin typeface="Segoe UI"/>
              </a:rPr>
              <a:t>The deposit rule becomes a Solana program. Nobody in the middle holds the money.</a:t>
            </a:r>
          </a:p>
        </p:txBody>
      </p:sp>
      <p:sp>
        <p:nvSpPr>
          <p:cNvPr id="6" name="TextBox 5"/>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7" name="TextBox 6"/>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04 / 10</a:t>
            </a:r>
          </a:p>
        </p:txBody>
      </p:sp>
      <p:sp>
        <p:nvSpPr>
          <p:cNvPr id="8" name="Rounded Rectangle 7"/>
          <p:cNvSpPr/>
          <p:nvPr/>
        </p:nvSpPr>
        <p:spPr>
          <a:xfrm>
            <a:off x="640080" y="2048256"/>
            <a:ext cx="512064" cy="51206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9" name="TextBox 8"/>
          <p:cNvSpPr txBox="1"/>
          <p:nvPr/>
        </p:nvSpPr>
        <p:spPr>
          <a:xfrm>
            <a:off x="640080" y="2048256"/>
            <a:ext cx="512064" cy="512064"/>
          </a:xfrm>
          <a:prstGeom prst="rect">
            <a:avLst/>
          </a:prstGeom>
          <a:noFill/>
        </p:spPr>
        <p:txBody>
          <a:bodyPr wrap="square" lIns="0" rIns="0" tIns="0" bIns="0" anchor="ctr">
            <a:noAutofit/>
          </a:bodyPr>
          <a:lstStyle/>
          <a:p>
            <a:pPr algn="ctr">
              <a:lnSpc>
                <a:spcPct val="100000"/>
              </a:lnSpc>
            </a:pPr>
            <a:r>
              <a:rPr sz="1500" b="1" i="0">
                <a:solidFill>
                  <a:srgbClr val="0A0F22"/>
                </a:solidFill>
                <a:latin typeface="Segoe UI"/>
              </a:rPr>
              <a:t>1</a:t>
            </a:r>
          </a:p>
        </p:txBody>
      </p:sp>
      <p:sp>
        <p:nvSpPr>
          <p:cNvPr id="10" name="TextBox 9"/>
          <p:cNvSpPr txBox="1"/>
          <p:nvPr/>
        </p:nvSpPr>
        <p:spPr>
          <a:xfrm>
            <a:off x="1371600" y="2011680"/>
            <a:ext cx="4526280" cy="365760"/>
          </a:xfrm>
          <a:prstGeom prst="rect">
            <a:avLst/>
          </a:prstGeom>
          <a:noFill/>
        </p:spPr>
        <p:txBody>
          <a:bodyPr wrap="square" lIns="0" rIns="0" tIns="0" bIns="0" anchor="t">
            <a:noAutofit/>
          </a:bodyPr>
          <a:lstStyle/>
          <a:p>
            <a:pPr algn="l">
              <a:lnSpc>
                <a:spcPct val="100000"/>
              </a:lnSpc>
            </a:pPr>
            <a:r>
              <a:rPr sz="1750" b="1" i="0">
                <a:solidFill>
                  <a:srgbClr val="F4F6FF"/>
                </a:solidFill>
                <a:latin typeface="Segoe UI"/>
              </a:rPr>
              <a:t>Seller locks a stake  S  first</a:t>
            </a:r>
          </a:p>
        </p:txBody>
      </p:sp>
      <p:sp>
        <p:nvSpPr>
          <p:cNvPr id="11" name="TextBox 10"/>
          <p:cNvSpPr txBox="1"/>
          <p:nvPr/>
        </p:nvSpPr>
        <p:spPr>
          <a:xfrm>
            <a:off x="1371600" y="2395728"/>
            <a:ext cx="4526280" cy="45720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Equal to D — a fake seller must risk their own money.</a:t>
            </a:r>
          </a:p>
        </p:txBody>
      </p:sp>
      <p:sp>
        <p:nvSpPr>
          <p:cNvPr id="12" name="Rounded Rectangle 11"/>
          <p:cNvSpPr/>
          <p:nvPr/>
        </p:nvSpPr>
        <p:spPr>
          <a:xfrm>
            <a:off x="640080" y="3072384"/>
            <a:ext cx="512064" cy="51206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13" name="TextBox 12"/>
          <p:cNvSpPr txBox="1"/>
          <p:nvPr/>
        </p:nvSpPr>
        <p:spPr>
          <a:xfrm>
            <a:off x="640080" y="3072384"/>
            <a:ext cx="512064" cy="512064"/>
          </a:xfrm>
          <a:prstGeom prst="rect">
            <a:avLst/>
          </a:prstGeom>
          <a:noFill/>
        </p:spPr>
        <p:txBody>
          <a:bodyPr wrap="square" lIns="0" rIns="0" tIns="0" bIns="0" anchor="ctr">
            <a:noAutofit/>
          </a:bodyPr>
          <a:lstStyle/>
          <a:p>
            <a:pPr algn="ctr">
              <a:lnSpc>
                <a:spcPct val="100000"/>
              </a:lnSpc>
            </a:pPr>
            <a:r>
              <a:rPr sz="1500" b="1" i="0">
                <a:solidFill>
                  <a:srgbClr val="0A0F22"/>
                </a:solidFill>
                <a:latin typeface="Segoe UI"/>
              </a:rPr>
              <a:t>2</a:t>
            </a:r>
          </a:p>
        </p:txBody>
      </p:sp>
      <p:sp>
        <p:nvSpPr>
          <p:cNvPr id="14" name="TextBox 13"/>
          <p:cNvSpPr txBox="1"/>
          <p:nvPr/>
        </p:nvSpPr>
        <p:spPr>
          <a:xfrm>
            <a:off x="1371600" y="3035808"/>
            <a:ext cx="4526280" cy="365760"/>
          </a:xfrm>
          <a:prstGeom prst="rect">
            <a:avLst/>
          </a:prstGeom>
          <a:noFill/>
        </p:spPr>
        <p:txBody>
          <a:bodyPr wrap="square" lIns="0" rIns="0" tIns="0" bIns="0" anchor="t">
            <a:noAutofit/>
          </a:bodyPr>
          <a:lstStyle/>
          <a:p>
            <a:pPr algn="l">
              <a:lnSpc>
                <a:spcPct val="100000"/>
              </a:lnSpc>
            </a:pPr>
            <a:r>
              <a:rPr sz="1750" b="1" i="0">
                <a:solidFill>
                  <a:srgbClr val="F4F6FF"/>
                </a:solidFill>
                <a:latin typeface="Segoe UI"/>
              </a:rPr>
              <a:t>Buyer locks the deposit  D</a:t>
            </a:r>
          </a:p>
        </p:txBody>
      </p:sp>
      <p:sp>
        <p:nvSpPr>
          <p:cNvPr id="15" name="TextBox 14"/>
          <p:cNvSpPr txBox="1"/>
          <p:nvPr/>
        </p:nvSpPr>
        <p:spPr>
          <a:xfrm>
            <a:off x="1371600" y="3419856"/>
            <a:ext cx="4526280" cy="45720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Into a program-owned vault — never the seller’s account.</a:t>
            </a:r>
          </a:p>
        </p:txBody>
      </p:sp>
      <p:sp>
        <p:nvSpPr>
          <p:cNvPr id="16" name="Rounded Rectangle 15"/>
          <p:cNvSpPr/>
          <p:nvPr/>
        </p:nvSpPr>
        <p:spPr>
          <a:xfrm>
            <a:off x="640080" y="4096512"/>
            <a:ext cx="512064" cy="51206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17" name="TextBox 16"/>
          <p:cNvSpPr txBox="1"/>
          <p:nvPr/>
        </p:nvSpPr>
        <p:spPr>
          <a:xfrm>
            <a:off x="640080" y="4096512"/>
            <a:ext cx="512064" cy="512064"/>
          </a:xfrm>
          <a:prstGeom prst="rect">
            <a:avLst/>
          </a:prstGeom>
          <a:noFill/>
        </p:spPr>
        <p:txBody>
          <a:bodyPr wrap="square" lIns="0" rIns="0" tIns="0" bIns="0" anchor="ctr">
            <a:noAutofit/>
          </a:bodyPr>
          <a:lstStyle/>
          <a:p>
            <a:pPr algn="ctr">
              <a:lnSpc>
                <a:spcPct val="100000"/>
              </a:lnSpc>
            </a:pPr>
            <a:r>
              <a:rPr sz="1500" b="1" i="0">
                <a:solidFill>
                  <a:srgbClr val="0A0F22"/>
                </a:solidFill>
                <a:latin typeface="Segoe UI"/>
              </a:rPr>
              <a:t>3</a:t>
            </a:r>
          </a:p>
        </p:txBody>
      </p:sp>
      <p:sp>
        <p:nvSpPr>
          <p:cNvPr id="18" name="TextBox 17"/>
          <p:cNvSpPr txBox="1"/>
          <p:nvPr/>
        </p:nvSpPr>
        <p:spPr>
          <a:xfrm>
            <a:off x="1371600" y="4059936"/>
            <a:ext cx="4526280" cy="365760"/>
          </a:xfrm>
          <a:prstGeom prst="rect">
            <a:avLst/>
          </a:prstGeom>
          <a:noFill/>
        </p:spPr>
        <p:txBody>
          <a:bodyPr wrap="square" lIns="0" rIns="0" tIns="0" bIns="0" anchor="t">
            <a:noAutofit/>
          </a:bodyPr>
          <a:lstStyle/>
          <a:p>
            <a:pPr algn="l">
              <a:lnSpc>
                <a:spcPct val="100000"/>
              </a:lnSpc>
            </a:pPr>
            <a:r>
              <a:rPr sz="1750" b="1" i="0">
                <a:solidFill>
                  <a:srgbClr val="F4F6FF"/>
                </a:solidFill>
                <a:latin typeface="Segoe UI"/>
              </a:rPr>
              <a:t>Both confirm the handover</a:t>
            </a:r>
          </a:p>
        </p:txBody>
      </p:sp>
      <p:sp>
        <p:nvSpPr>
          <p:cNvPr id="19" name="TextBox 18"/>
          <p:cNvSpPr txBox="1"/>
          <p:nvPr/>
        </p:nvSpPr>
        <p:spPr>
          <a:xfrm>
            <a:off x="1371600" y="4443984"/>
            <a:ext cx="4526280" cy="45720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Two confirmations release P = D + S to the seller.</a:t>
            </a:r>
          </a:p>
        </p:txBody>
      </p:sp>
      <p:sp>
        <p:nvSpPr>
          <p:cNvPr id="20" name="Rounded Rectangle 19"/>
          <p:cNvSpPr/>
          <p:nvPr/>
        </p:nvSpPr>
        <p:spPr>
          <a:xfrm>
            <a:off x="640080" y="5120640"/>
            <a:ext cx="512064" cy="512064"/>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21" name="TextBox 20"/>
          <p:cNvSpPr txBox="1"/>
          <p:nvPr/>
        </p:nvSpPr>
        <p:spPr>
          <a:xfrm>
            <a:off x="640080" y="5120640"/>
            <a:ext cx="512064" cy="512064"/>
          </a:xfrm>
          <a:prstGeom prst="rect">
            <a:avLst/>
          </a:prstGeom>
          <a:noFill/>
        </p:spPr>
        <p:txBody>
          <a:bodyPr wrap="square" lIns="0" rIns="0" tIns="0" bIns="0" anchor="ctr">
            <a:noAutofit/>
          </a:bodyPr>
          <a:lstStyle/>
          <a:p>
            <a:pPr algn="ctr">
              <a:lnSpc>
                <a:spcPct val="100000"/>
              </a:lnSpc>
            </a:pPr>
            <a:r>
              <a:rPr sz="1500" b="1" i="0">
                <a:solidFill>
                  <a:srgbClr val="0A0F22"/>
                </a:solidFill>
                <a:latin typeface="Segoe UI"/>
              </a:rPr>
              <a:t>4</a:t>
            </a:r>
          </a:p>
        </p:txBody>
      </p:sp>
      <p:sp>
        <p:nvSpPr>
          <p:cNvPr id="22" name="TextBox 21"/>
          <p:cNvSpPr txBox="1"/>
          <p:nvPr/>
        </p:nvSpPr>
        <p:spPr>
          <a:xfrm>
            <a:off x="1371600" y="5084064"/>
            <a:ext cx="4526280" cy="365760"/>
          </a:xfrm>
          <a:prstGeom prst="rect">
            <a:avLst/>
          </a:prstGeom>
          <a:noFill/>
        </p:spPr>
        <p:txBody>
          <a:bodyPr wrap="square" lIns="0" rIns="0" tIns="0" bIns="0" anchor="t">
            <a:noAutofit/>
          </a:bodyPr>
          <a:lstStyle/>
          <a:p>
            <a:pPr algn="l">
              <a:lnSpc>
                <a:spcPct val="100000"/>
              </a:lnSpc>
            </a:pPr>
            <a:r>
              <a:rPr sz="1750" b="1" i="0">
                <a:solidFill>
                  <a:srgbClr val="F4F6FF"/>
                </a:solidFill>
                <a:latin typeface="Segoe UI"/>
              </a:rPr>
              <a:t>Someone backs out or vanishes?</a:t>
            </a:r>
          </a:p>
        </p:txBody>
      </p:sp>
      <p:sp>
        <p:nvSpPr>
          <p:cNvPr id="23" name="TextBox 22"/>
          <p:cNvSpPr txBox="1"/>
          <p:nvPr/>
        </p:nvSpPr>
        <p:spPr>
          <a:xfrm>
            <a:off x="1371600" y="5468112"/>
            <a:ext cx="4526280" cy="457200"/>
          </a:xfrm>
          <a:prstGeom prst="rect">
            <a:avLst/>
          </a:prstGeom>
          <a:noFill/>
        </p:spPr>
        <p:txBody>
          <a:bodyPr wrap="square" lIns="0" rIns="0" tIns="0" bIns="0" anchor="t">
            <a:noAutofit/>
          </a:bodyPr>
          <a:lstStyle/>
          <a:p>
            <a:pPr algn="l">
              <a:lnSpc>
                <a:spcPct val="100000"/>
              </a:lnSpc>
            </a:pPr>
            <a:r>
              <a:rPr sz="1350" b="0" i="0">
                <a:solidFill>
                  <a:srgbClr val="B4BCD6"/>
                </a:solidFill>
                <a:latin typeface="Segoe UI"/>
              </a:rPr>
              <a:t>The rule pays out: if the seller walks, the buyer gets 2×.</a:t>
            </a:r>
          </a:p>
        </p:txBody>
      </p:sp>
      <p:sp>
        <p:nvSpPr>
          <p:cNvPr id="24" name="Rounded Rectangle 23"/>
          <p:cNvSpPr/>
          <p:nvPr/>
        </p:nvSpPr>
        <p:spPr>
          <a:xfrm>
            <a:off x="6172200" y="1920240"/>
            <a:ext cx="5422392" cy="3794760"/>
          </a:xfrm>
          <a:prstGeom prst="roundRect">
            <a:avLst>
              <a:gd name="adj" fmla="val 2891"/>
            </a:avLst>
          </a:prstGeom>
          <a:solidFill>
            <a:srgbClr val="0B1022"/>
          </a:solidFill>
          <a:ln w="12700">
            <a:solidFill>
              <a:srgbClr val="243055"/>
            </a:solidFill>
          </a:ln>
        </p:spPr>
        <p:txBody>
          <a:bodyPr rtlCol="0" anchor="ctr"/>
          <a:lstStyle/>
          <a:p>
            <a:pPr algn="ctr"/>
          </a:p>
        </p:txBody>
      </p:sp>
      <p:pic>
        <p:nvPicPr>
          <p:cNvPr id="25" name="Picture 24" descr="deal.png"/>
          <p:cNvPicPr>
            <a:picLocks noChangeAspect="1"/>
          </p:cNvPicPr>
          <p:nvPr/>
        </p:nvPicPr>
        <p:blipFill>
          <a:blip r:embed="rId3"/>
          <a:stretch>
            <a:fillRect/>
          </a:stretch>
        </p:blipFill>
        <p:spPr>
          <a:xfrm>
            <a:off x="6803776" y="1993391"/>
            <a:ext cx="4159239" cy="3648456"/>
          </a:xfrm>
          <a:prstGeom prst="rect">
            <a:avLst/>
          </a:prstGeom>
        </p:spPr>
      </p:pic>
      <p:sp>
        <p:nvSpPr>
          <p:cNvPr id="26" name="TextBox 25"/>
          <p:cNvSpPr txBox="1"/>
          <p:nvPr/>
        </p:nvSpPr>
        <p:spPr>
          <a:xfrm>
            <a:off x="6172200" y="5824728"/>
            <a:ext cx="5422392" cy="274320"/>
          </a:xfrm>
          <a:prstGeom prst="rect">
            <a:avLst/>
          </a:prstGeom>
          <a:noFill/>
        </p:spPr>
        <p:txBody>
          <a:bodyPr wrap="square" lIns="0" rIns="0" tIns="0" bIns="0" anchor="t">
            <a:noAutofit/>
          </a:bodyPr>
          <a:lstStyle/>
          <a:p>
            <a:pPr algn="ctr">
              <a:lnSpc>
                <a:spcPct val="100000"/>
              </a:lnSpc>
            </a:pPr>
            <a:r>
              <a:rPr sz="1150" b="0" i="0">
                <a:solidFill>
                  <a:srgbClr val="6F7A9A"/>
                </a:solidFill>
                <a:latin typeface="Segoe UI"/>
              </a:rPr>
              <a:t>/d/&lt;deal&gt; after the deadline: even a visitor can press “Apply the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05  ·  RELEVANCE</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Where the intermediary disappears</a:t>
            </a:r>
          </a:p>
        </p:txBody>
      </p:sp>
      <p:sp>
        <p:nvSpPr>
          <p:cNvPr id="5" name="TextBox 4"/>
          <p:cNvSpPr txBox="1"/>
          <p:nvPr/>
        </p:nvSpPr>
        <p:spPr>
          <a:xfrm>
            <a:off x="640080" y="1371600"/>
            <a:ext cx="10881360" cy="365760"/>
          </a:xfrm>
          <a:prstGeom prst="rect">
            <a:avLst/>
          </a:prstGeom>
          <a:noFill/>
        </p:spPr>
        <p:txBody>
          <a:bodyPr wrap="square" lIns="0" rIns="0" tIns="0" bIns="0" anchor="t">
            <a:noAutofit/>
          </a:bodyPr>
          <a:lstStyle/>
          <a:p>
            <a:pPr algn="l">
              <a:lnSpc>
                <a:spcPct val="100000"/>
              </a:lnSpc>
            </a:pPr>
            <a:r>
              <a:rPr sz="1500" b="0" i="0">
                <a:solidFill>
                  <a:srgbClr val="B4BCD6"/>
                </a:solidFill>
                <a:latin typeface="Segoe UI"/>
              </a:rPr>
              <a:t>Every rule that moves money lives in the on-chain program. The app and widget cannot move funds.</a:t>
            </a:r>
          </a:p>
        </p:txBody>
      </p:sp>
      <p:sp>
        <p:nvSpPr>
          <p:cNvPr id="6" name="TextBox 5"/>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7" name="TextBox 6"/>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05 / 10</a:t>
            </a:r>
          </a:p>
        </p:txBody>
      </p:sp>
      <p:sp>
        <p:nvSpPr>
          <p:cNvPr id="8" name="Rounded Rectangle 7"/>
          <p:cNvSpPr/>
          <p:nvPr/>
        </p:nvSpPr>
        <p:spPr>
          <a:xfrm>
            <a:off x="640080" y="1920240"/>
            <a:ext cx="1828800" cy="749808"/>
          </a:xfrm>
          <a:prstGeom prst="roundRect">
            <a:avLst>
              <a:gd name="adj" fmla="val 12195"/>
            </a:avLst>
          </a:prstGeom>
          <a:solidFill>
            <a:srgbClr val="141C35"/>
          </a:solidFill>
          <a:ln w="12700">
            <a:solidFill>
              <a:srgbClr val="243055"/>
            </a:solidFill>
          </a:ln>
        </p:spPr>
        <p:txBody>
          <a:bodyPr rtlCol="0" anchor="ctr"/>
          <a:lstStyle/>
          <a:p>
            <a:pPr algn="ctr"/>
          </a:p>
        </p:txBody>
      </p:sp>
      <p:sp>
        <p:nvSpPr>
          <p:cNvPr id="9" name="TextBox 8"/>
          <p:cNvSpPr txBox="1"/>
          <p:nvPr/>
        </p:nvSpPr>
        <p:spPr>
          <a:xfrm>
            <a:off x="640080" y="2011680"/>
            <a:ext cx="1828800" cy="274320"/>
          </a:xfrm>
          <a:prstGeom prst="rect">
            <a:avLst/>
          </a:prstGeom>
          <a:noFill/>
        </p:spPr>
        <p:txBody>
          <a:bodyPr wrap="square" lIns="0" rIns="0" tIns="0" bIns="0" anchor="t">
            <a:noAutofit/>
          </a:bodyPr>
          <a:lstStyle/>
          <a:p>
            <a:pPr algn="ctr">
              <a:lnSpc>
                <a:spcPct val="100000"/>
              </a:lnSpc>
            </a:pPr>
            <a:r>
              <a:rPr sz="1100" b="1" i="0">
                <a:solidFill>
                  <a:srgbClr val="F4F6FF"/>
                </a:solidFill>
                <a:latin typeface="Consolas"/>
              </a:rPr>
              <a:t>confirm_complete()</a:t>
            </a:r>
          </a:p>
        </p:txBody>
      </p:sp>
      <p:sp>
        <p:nvSpPr>
          <p:cNvPr id="10" name="TextBox 9"/>
          <p:cNvSpPr txBox="1"/>
          <p:nvPr/>
        </p:nvSpPr>
        <p:spPr>
          <a:xfrm>
            <a:off x="640080" y="2313432"/>
            <a:ext cx="1828800" cy="256032"/>
          </a:xfrm>
          <a:prstGeom prst="rect">
            <a:avLst/>
          </a:prstGeom>
          <a:noFill/>
        </p:spPr>
        <p:txBody>
          <a:bodyPr wrap="square" lIns="0" rIns="0" tIns="0" bIns="0" anchor="t">
            <a:noAutofit/>
          </a:bodyPr>
          <a:lstStyle/>
          <a:p>
            <a:pPr algn="ctr">
              <a:lnSpc>
                <a:spcPct val="100000"/>
              </a:lnSpc>
            </a:pPr>
            <a:r>
              <a:rPr sz="1050" b="0" i="0">
                <a:solidFill>
                  <a:srgbClr val="B4BCD6"/>
                </a:solidFill>
                <a:latin typeface="Segoe UI"/>
              </a:rPr>
              <a:t>payer + payee</a:t>
            </a:r>
          </a:p>
        </p:txBody>
      </p:sp>
      <p:cxnSp>
        <p:nvCxnSpPr>
          <p:cNvPr id="11" name="Connector 10"/>
          <p:cNvCxnSpPr/>
          <p:nvPr/>
        </p:nvCxnSpPr>
        <p:spPr>
          <a:xfrm>
            <a:off x="1554480" y="2688336"/>
            <a:ext cx="0" cy="329184"/>
          </a:xfrm>
          <a:prstGeom prst="line">
            <a:avLst/>
          </a:prstGeom>
          <a:ln w="22225">
            <a:solidFill>
              <a:srgbClr val="8B5CF6"/>
            </a:solidFill>
            <a:tailEnd type="triangle" w="med" len="med"/>
          </a:ln>
        </p:spPr>
      </p:cxnSp>
      <p:sp>
        <p:nvSpPr>
          <p:cNvPr id="12" name="Rounded Rectangle 11"/>
          <p:cNvSpPr/>
          <p:nvPr/>
        </p:nvSpPr>
        <p:spPr>
          <a:xfrm>
            <a:off x="2615184" y="1920240"/>
            <a:ext cx="1828800" cy="749808"/>
          </a:xfrm>
          <a:prstGeom prst="roundRect">
            <a:avLst>
              <a:gd name="adj" fmla="val 12195"/>
            </a:avLst>
          </a:prstGeom>
          <a:solidFill>
            <a:srgbClr val="141C35"/>
          </a:solidFill>
          <a:ln w="12700">
            <a:solidFill>
              <a:srgbClr val="243055"/>
            </a:solidFill>
          </a:ln>
        </p:spPr>
        <p:txBody>
          <a:bodyPr rtlCol="0" anchor="ctr"/>
          <a:lstStyle/>
          <a:p>
            <a:pPr algn="ctr"/>
          </a:p>
        </p:txBody>
      </p:sp>
      <p:sp>
        <p:nvSpPr>
          <p:cNvPr id="13" name="TextBox 12"/>
          <p:cNvSpPr txBox="1"/>
          <p:nvPr/>
        </p:nvSpPr>
        <p:spPr>
          <a:xfrm>
            <a:off x="2615184" y="2011680"/>
            <a:ext cx="1828800" cy="274320"/>
          </a:xfrm>
          <a:prstGeom prst="rect">
            <a:avLst/>
          </a:prstGeom>
          <a:noFill/>
        </p:spPr>
        <p:txBody>
          <a:bodyPr wrap="square" lIns="0" rIns="0" tIns="0" bIns="0" anchor="t">
            <a:noAutofit/>
          </a:bodyPr>
          <a:lstStyle/>
          <a:p>
            <a:pPr algn="ctr">
              <a:lnSpc>
                <a:spcPct val="100000"/>
              </a:lnSpc>
            </a:pPr>
            <a:r>
              <a:rPr sz="1100" b="1" i="0">
                <a:solidFill>
                  <a:srgbClr val="F4F6FF"/>
                </a:solidFill>
                <a:latin typeface="Consolas"/>
              </a:rPr>
              <a:t>withdraw()</a:t>
            </a:r>
          </a:p>
        </p:txBody>
      </p:sp>
      <p:sp>
        <p:nvSpPr>
          <p:cNvPr id="14" name="TextBox 13"/>
          <p:cNvSpPr txBox="1"/>
          <p:nvPr/>
        </p:nvSpPr>
        <p:spPr>
          <a:xfrm>
            <a:off x="2615184" y="2313432"/>
            <a:ext cx="1828800" cy="256032"/>
          </a:xfrm>
          <a:prstGeom prst="rect">
            <a:avLst/>
          </a:prstGeom>
          <a:noFill/>
        </p:spPr>
        <p:txBody>
          <a:bodyPr wrap="square" lIns="0" rIns="0" tIns="0" bIns="0" anchor="t">
            <a:noAutofit/>
          </a:bodyPr>
          <a:lstStyle/>
          <a:p>
            <a:pPr algn="ctr">
              <a:lnSpc>
                <a:spcPct val="100000"/>
              </a:lnSpc>
            </a:pPr>
            <a:r>
              <a:rPr sz="1050" b="0" i="0">
                <a:solidFill>
                  <a:srgbClr val="B4BCD6"/>
                </a:solidFill>
                <a:latin typeface="Segoe UI"/>
              </a:rPr>
              <a:t>payer or payee</a:t>
            </a:r>
          </a:p>
        </p:txBody>
      </p:sp>
      <p:cxnSp>
        <p:nvCxnSpPr>
          <p:cNvPr id="15" name="Connector 14"/>
          <p:cNvCxnSpPr/>
          <p:nvPr/>
        </p:nvCxnSpPr>
        <p:spPr>
          <a:xfrm>
            <a:off x="3529584" y="2688336"/>
            <a:ext cx="0" cy="329184"/>
          </a:xfrm>
          <a:prstGeom prst="line">
            <a:avLst/>
          </a:prstGeom>
          <a:ln w="22225">
            <a:solidFill>
              <a:srgbClr val="8B5CF6"/>
            </a:solidFill>
            <a:tailEnd type="triangle" w="med" len="med"/>
          </a:ln>
        </p:spPr>
      </p:cxnSp>
      <p:sp>
        <p:nvSpPr>
          <p:cNvPr id="16" name="Rounded Rectangle 15"/>
          <p:cNvSpPr/>
          <p:nvPr/>
        </p:nvSpPr>
        <p:spPr>
          <a:xfrm>
            <a:off x="4590288" y="1920240"/>
            <a:ext cx="1828800" cy="749808"/>
          </a:xfrm>
          <a:prstGeom prst="roundRect">
            <a:avLst>
              <a:gd name="adj" fmla="val 12195"/>
            </a:avLst>
          </a:prstGeom>
          <a:solidFill>
            <a:srgbClr val="0E2A26"/>
          </a:solidFill>
          <a:ln w="15875">
            <a:solidFill>
              <a:srgbClr val="14F195"/>
            </a:solidFill>
          </a:ln>
        </p:spPr>
        <p:txBody>
          <a:bodyPr rtlCol="0" anchor="ctr"/>
          <a:lstStyle/>
          <a:p>
            <a:pPr algn="ctr"/>
          </a:p>
        </p:txBody>
      </p:sp>
      <p:sp>
        <p:nvSpPr>
          <p:cNvPr id="17" name="TextBox 16"/>
          <p:cNvSpPr txBox="1"/>
          <p:nvPr/>
        </p:nvSpPr>
        <p:spPr>
          <a:xfrm>
            <a:off x="4590288" y="2011680"/>
            <a:ext cx="1828800" cy="274320"/>
          </a:xfrm>
          <a:prstGeom prst="rect">
            <a:avLst/>
          </a:prstGeom>
          <a:noFill/>
        </p:spPr>
        <p:txBody>
          <a:bodyPr wrap="square" lIns="0" rIns="0" tIns="0" bIns="0" anchor="t">
            <a:noAutofit/>
          </a:bodyPr>
          <a:lstStyle/>
          <a:p>
            <a:pPr algn="ctr">
              <a:lnSpc>
                <a:spcPct val="100000"/>
              </a:lnSpc>
            </a:pPr>
            <a:r>
              <a:rPr sz="1100" b="1" i="0">
                <a:solidFill>
                  <a:srgbClr val="14F195"/>
                </a:solidFill>
                <a:latin typeface="Consolas"/>
              </a:rPr>
              <a:t>claim_after_deadline()</a:t>
            </a:r>
          </a:p>
        </p:txBody>
      </p:sp>
      <p:sp>
        <p:nvSpPr>
          <p:cNvPr id="18" name="TextBox 17"/>
          <p:cNvSpPr txBox="1"/>
          <p:nvPr/>
        </p:nvSpPr>
        <p:spPr>
          <a:xfrm>
            <a:off x="4590288" y="2313432"/>
            <a:ext cx="1828800" cy="256032"/>
          </a:xfrm>
          <a:prstGeom prst="rect">
            <a:avLst/>
          </a:prstGeom>
          <a:noFill/>
        </p:spPr>
        <p:txBody>
          <a:bodyPr wrap="square" lIns="0" rIns="0" tIns="0" bIns="0" anchor="t">
            <a:noAutofit/>
          </a:bodyPr>
          <a:lstStyle/>
          <a:p>
            <a:pPr algn="ctr">
              <a:lnSpc>
                <a:spcPct val="100000"/>
              </a:lnSpc>
            </a:pPr>
            <a:r>
              <a:rPr sz="1050" b="1" i="0">
                <a:solidFill>
                  <a:srgbClr val="14F195"/>
                </a:solidFill>
                <a:latin typeface="Segoe UI"/>
              </a:rPr>
              <a:t>ANYONE, after deadline</a:t>
            </a:r>
          </a:p>
        </p:txBody>
      </p:sp>
      <p:cxnSp>
        <p:nvCxnSpPr>
          <p:cNvPr id="19" name="Connector 18"/>
          <p:cNvCxnSpPr/>
          <p:nvPr/>
        </p:nvCxnSpPr>
        <p:spPr>
          <a:xfrm>
            <a:off x="5504688" y="2688336"/>
            <a:ext cx="0" cy="329184"/>
          </a:xfrm>
          <a:prstGeom prst="line">
            <a:avLst/>
          </a:prstGeom>
          <a:ln w="22225">
            <a:solidFill>
              <a:srgbClr val="14F195"/>
            </a:solidFill>
            <a:tailEnd type="triangle" w="med" len="med"/>
          </a:ln>
        </p:spPr>
      </p:cxnSp>
      <p:sp>
        <p:nvSpPr>
          <p:cNvPr id="20" name="Rounded Rectangle 19"/>
          <p:cNvSpPr/>
          <p:nvPr/>
        </p:nvSpPr>
        <p:spPr>
          <a:xfrm>
            <a:off x="640080" y="3035808"/>
            <a:ext cx="5779008" cy="1572768"/>
          </a:xfrm>
          <a:prstGeom prst="roundRect">
            <a:avLst>
              <a:gd name="adj" fmla="val 6976"/>
            </a:avLst>
          </a:prstGeom>
          <a:solidFill>
            <a:srgbClr val="060914"/>
          </a:solidFill>
          <a:ln w="15875">
            <a:solidFill>
              <a:srgbClr val="3F2F7A"/>
            </a:solidFill>
          </a:ln>
        </p:spPr>
        <p:txBody>
          <a:bodyPr rtlCol="0" anchor="ctr"/>
          <a:lstStyle/>
          <a:p>
            <a:pPr algn="ctr"/>
          </a:p>
        </p:txBody>
      </p:sp>
      <p:sp>
        <p:nvSpPr>
          <p:cNvPr id="21" name="TextBox 20"/>
          <p:cNvSpPr txBox="1"/>
          <p:nvPr/>
        </p:nvSpPr>
        <p:spPr>
          <a:xfrm>
            <a:off x="868680" y="3154680"/>
            <a:ext cx="5394960" cy="274320"/>
          </a:xfrm>
          <a:prstGeom prst="rect">
            <a:avLst/>
          </a:prstGeom>
          <a:noFill/>
        </p:spPr>
        <p:txBody>
          <a:bodyPr wrap="square" lIns="0" rIns="0" tIns="0" bIns="0" anchor="t">
            <a:noAutofit/>
          </a:bodyPr>
          <a:lstStyle/>
          <a:p>
            <a:pPr algn="l">
              <a:lnSpc>
                <a:spcPct val="100000"/>
              </a:lnSpc>
            </a:pPr>
            <a:r>
              <a:rPr sz="1150" b="1" i="0">
                <a:solidFill>
                  <a:srgbClr val="8B5CF6"/>
                </a:solidFill>
                <a:latin typeface="Consolas"/>
              </a:rPr>
              <a:t>programs/kapora/src/settle.rs</a:t>
            </a:r>
          </a:p>
        </p:txBody>
      </p:sp>
      <p:sp>
        <p:nvSpPr>
          <p:cNvPr id="22" name="TextBox 21"/>
          <p:cNvSpPr txBox="1"/>
          <p:nvPr/>
        </p:nvSpPr>
        <p:spPr>
          <a:xfrm>
            <a:off x="868680" y="3474720"/>
            <a:ext cx="5394960" cy="274320"/>
          </a:xfrm>
          <a:prstGeom prst="rect">
            <a:avLst/>
          </a:prstGeom>
          <a:noFill/>
        </p:spPr>
        <p:txBody>
          <a:bodyPr wrap="square" lIns="0" rIns="0" tIns="0" bIns="0" anchor="t">
            <a:noAutofit/>
          </a:bodyPr>
          <a:lstStyle/>
          <a:p>
            <a:pPr algn="l">
              <a:lnSpc>
                <a:spcPct val="100000"/>
              </a:lnSpc>
            </a:pPr>
            <a:r>
              <a:rPr sz="1200" b="1" i="0">
                <a:solidFill>
                  <a:srgbClr val="14F195"/>
                </a:solidFill>
                <a:latin typeface="Consolas"/>
              </a:rPr>
              <a:t>payout</a:t>
            </a:r>
            <a:r>
              <a:rPr sz="1200" b="0" i="0">
                <a:solidFill>
                  <a:srgbClr val="F4F6FF"/>
                </a:solidFill>
                <a:latin typeface="Consolas"/>
              </a:rPr>
              <a:t>(penalty, on_complete, outcome, D, S, bps)</a:t>
            </a:r>
          </a:p>
        </p:txBody>
      </p:sp>
      <p:sp>
        <p:nvSpPr>
          <p:cNvPr id="23" name="TextBox 22"/>
          <p:cNvSpPr txBox="1"/>
          <p:nvPr/>
        </p:nvSpPr>
        <p:spPr>
          <a:xfrm>
            <a:off x="868680" y="3730752"/>
            <a:ext cx="5394960" cy="274320"/>
          </a:xfrm>
          <a:prstGeom prst="rect">
            <a:avLst/>
          </a:prstGeom>
          <a:noFill/>
        </p:spPr>
        <p:txBody>
          <a:bodyPr wrap="square" lIns="0" rIns="0" tIns="0" bIns="0" anchor="t">
            <a:noAutofit/>
          </a:bodyPr>
          <a:lstStyle/>
          <a:p>
            <a:pPr algn="l">
              <a:lnSpc>
                <a:spcPct val="100000"/>
              </a:lnSpc>
            </a:pPr>
            <a:r>
              <a:rPr sz="1200" b="0" i="0">
                <a:solidFill>
                  <a:srgbClr val="B4BCD6"/>
                </a:solidFill>
                <a:latin typeface="Consolas"/>
              </a:rPr>
              <a:t>  → (to_payer, to_payee)</a:t>
            </a:r>
          </a:p>
        </p:txBody>
      </p:sp>
      <p:sp>
        <p:nvSpPr>
          <p:cNvPr id="24" name="TextBox 23"/>
          <p:cNvSpPr txBox="1"/>
          <p:nvPr/>
        </p:nvSpPr>
        <p:spPr>
          <a:xfrm>
            <a:off x="868680" y="4041648"/>
            <a:ext cx="5394960" cy="502920"/>
          </a:xfrm>
          <a:prstGeom prst="rect">
            <a:avLst/>
          </a:prstGeom>
          <a:noFill/>
        </p:spPr>
        <p:txBody>
          <a:bodyPr wrap="square" lIns="0" rIns="0" tIns="0" bIns="0" anchor="t">
            <a:noAutofit/>
          </a:bodyPr>
          <a:lstStyle/>
          <a:p>
            <a:pPr algn="l">
              <a:lnSpc>
                <a:spcPct val="100000"/>
              </a:lnSpc>
            </a:pPr>
            <a:r>
              <a:rPr sz="1150" b="1" i="0">
                <a:solidFill>
                  <a:srgbClr val="14F195"/>
                </a:solidFill>
                <a:latin typeface="Consolas"/>
              </a:rPr>
              <a:t>settle</a:t>
            </a:r>
            <a:r>
              <a:rPr sz="1150" b="0" i="0">
                <a:solidFill>
                  <a:srgbClr val="B4BCD6"/>
                </a:solidFill>
                <a:latin typeface="Segoe UI"/>
              </a:rPr>
              <a:t>()  checks to_payer + to_payee == P, pays out from the vault by PDA signature, updates Profile + PlatformStats</a:t>
            </a:r>
          </a:p>
        </p:txBody>
      </p:sp>
      <p:cxnSp>
        <p:nvCxnSpPr>
          <p:cNvPr id="25" name="Connector 24"/>
          <p:cNvCxnSpPr/>
          <p:nvPr/>
        </p:nvCxnSpPr>
        <p:spPr>
          <a:xfrm>
            <a:off x="3529584" y="4626864"/>
            <a:ext cx="0" cy="310896"/>
          </a:xfrm>
          <a:prstGeom prst="line">
            <a:avLst/>
          </a:prstGeom>
          <a:ln w="22225">
            <a:solidFill>
              <a:srgbClr val="8B5CF6"/>
            </a:solidFill>
            <a:tailEnd type="triangle" w="med" len="med"/>
          </a:ln>
        </p:spPr>
      </p:cxnSp>
      <p:sp>
        <p:nvSpPr>
          <p:cNvPr id="26" name="Rounded Rectangle 25"/>
          <p:cNvSpPr/>
          <p:nvPr/>
        </p:nvSpPr>
        <p:spPr>
          <a:xfrm>
            <a:off x="640080" y="4956048"/>
            <a:ext cx="5779008" cy="987552"/>
          </a:xfrm>
          <a:prstGeom prst="roundRect">
            <a:avLst>
              <a:gd name="adj" fmla="val 11111"/>
            </a:avLst>
          </a:prstGeom>
          <a:gradFill rotWithShape="1">
            <a:gsLst>
              <a:gs pos="0">
                <a:srgbClr val="9945FF"/>
              </a:gs>
              <a:gs pos="100000">
                <a:srgbClr val="14F195"/>
              </a:gs>
            </a:gsLst>
            <a:lin ang="0" scaled="0"/>
          </a:gradFill>
          <a:ln>
            <a:noFill/>
          </a:ln>
        </p:spPr>
        <p:txBody>
          <a:bodyPr rtlCol="0" anchor="ctr"/>
          <a:lstStyle/>
          <a:p>
            <a:pPr algn="ctr"/>
          </a:p>
        </p:txBody>
      </p:sp>
      <p:sp>
        <p:nvSpPr>
          <p:cNvPr id="27" name="Rounded Rectangle 26"/>
          <p:cNvSpPr/>
          <p:nvPr/>
        </p:nvSpPr>
        <p:spPr>
          <a:xfrm>
            <a:off x="667512" y="4983480"/>
            <a:ext cx="5724144" cy="932688"/>
          </a:xfrm>
          <a:prstGeom prst="roundRect">
            <a:avLst>
              <a:gd name="adj" fmla="val 9803"/>
            </a:avLst>
          </a:prstGeom>
          <a:solidFill>
            <a:srgbClr val="0D1330"/>
          </a:solidFill>
          <a:ln>
            <a:noFill/>
          </a:ln>
        </p:spPr>
        <p:txBody>
          <a:bodyPr rtlCol="0" anchor="ctr"/>
          <a:lstStyle/>
          <a:p>
            <a:pPr algn="ctr"/>
          </a:p>
        </p:txBody>
      </p:sp>
      <p:sp>
        <p:nvSpPr>
          <p:cNvPr id="28" name="TextBox 27"/>
          <p:cNvSpPr txBox="1"/>
          <p:nvPr/>
        </p:nvSpPr>
        <p:spPr>
          <a:xfrm>
            <a:off x="868680" y="5074920"/>
            <a:ext cx="5394960" cy="32004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Vault PDA  </a:t>
            </a:r>
            <a:r>
              <a:rPr sz="1400" b="0" i="0">
                <a:solidFill>
                  <a:srgbClr val="14F195"/>
                </a:solidFill>
                <a:latin typeface="Consolas"/>
              </a:rPr>
              <a:t>["vault", deal]</a:t>
            </a:r>
          </a:p>
        </p:txBody>
      </p:sp>
      <p:sp>
        <p:nvSpPr>
          <p:cNvPr id="29" name="TextBox 28"/>
          <p:cNvSpPr txBox="1"/>
          <p:nvPr/>
        </p:nvSpPr>
        <p:spPr>
          <a:xfrm>
            <a:off x="868680" y="5422392"/>
            <a:ext cx="5394960" cy="411480"/>
          </a:xfrm>
          <a:prstGeom prst="rect">
            <a:avLst/>
          </a:prstGeom>
          <a:noFill/>
        </p:spPr>
        <p:txBody>
          <a:bodyPr wrap="square" lIns="0" rIns="0" tIns="0" bIns="0" anchor="t">
            <a:noAutofit/>
          </a:bodyPr>
          <a:lstStyle/>
          <a:p>
            <a:pPr algn="l">
              <a:lnSpc>
                <a:spcPct val="100000"/>
              </a:lnSpc>
            </a:pPr>
            <a:r>
              <a:rPr sz="1200" b="0" i="0">
                <a:solidFill>
                  <a:srgbClr val="B4BCD6"/>
                </a:solidFill>
                <a:latin typeface="Segoe UI"/>
              </a:rPr>
              <a:t>authority = the Deal PDA · no private key · funds leave only through settle()</a:t>
            </a:r>
          </a:p>
        </p:txBody>
      </p:sp>
      <p:sp>
        <p:nvSpPr>
          <p:cNvPr id="30" name="Rounded Rectangle 29"/>
          <p:cNvSpPr/>
          <p:nvPr/>
        </p:nvSpPr>
        <p:spPr>
          <a:xfrm>
            <a:off x="6720840" y="1920240"/>
            <a:ext cx="4873752" cy="1874519"/>
          </a:xfrm>
          <a:prstGeom prst="roundRect">
            <a:avLst>
              <a:gd name="adj" fmla="val 7804"/>
            </a:avLst>
          </a:prstGeom>
          <a:gradFill rotWithShape="1">
            <a:gsLst>
              <a:gs pos="0">
                <a:srgbClr val="9945FF"/>
              </a:gs>
              <a:gs pos="100000">
                <a:srgbClr val="14F195"/>
              </a:gs>
            </a:gsLst>
            <a:lin ang="0" scaled="0"/>
          </a:gradFill>
          <a:ln>
            <a:noFill/>
          </a:ln>
        </p:spPr>
        <p:txBody>
          <a:bodyPr rtlCol="0" anchor="ctr"/>
          <a:lstStyle/>
          <a:p>
            <a:pPr algn="ctr"/>
          </a:p>
        </p:txBody>
      </p:sp>
      <p:sp>
        <p:nvSpPr>
          <p:cNvPr id="31" name="Rounded Rectangle 30"/>
          <p:cNvSpPr/>
          <p:nvPr/>
        </p:nvSpPr>
        <p:spPr>
          <a:xfrm>
            <a:off x="6748272" y="1947672"/>
            <a:ext cx="4818888" cy="1819656"/>
          </a:xfrm>
          <a:prstGeom prst="roundRect">
            <a:avLst>
              <a:gd name="adj" fmla="val 7035"/>
            </a:avLst>
          </a:prstGeom>
          <a:solidFill>
            <a:srgbClr val="0E1A2E"/>
          </a:solidFill>
          <a:ln>
            <a:noFill/>
          </a:ln>
        </p:spPr>
        <p:txBody>
          <a:bodyPr rtlCol="0" anchor="ctr"/>
          <a:lstStyle/>
          <a:p>
            <a:pPr algn="ctr"/>
          </a:p>
        </p:txBody>
      </p:sp>
      <p:sp>
        <p:nvSpPr>
          <p:cNvPr id="32" name="TextBox 31"/>
          <p:cNvSpPr txBox="1"/>
          <p:nvPr/>
        </p:nvSpPr>
        <p:spPr>
          <a:xfrm>
            <a:off x="6967728" y="2084831"/>
            <a:ext cx="4480560" cy="274320"/>
          </a:xfrm>
          <a:prstGeom prst="rect">
            <a:avLst/>
          </a:prstGeom>
          <a:noFill/>
        </p:spPr>
        <p:txBody>
          <a:bodyPr wrap="square" lIns="0" rIns="0" tIns="0" bIns="0" anchor="t">
            <a:noAutofit/>
          </a:bodyPr>
          <a:lstStyle/>
          <a:p>
            <a:pPr algn="l">
              <a:lnSpc>
                <a:spcPct val="100000"/>
              </a:lnSpc>
            </a:pPr>
            <a:r>
              <a:rPr sz="950" b="1" i="0" spc="100">
                <a:solidFill>
                  <a:srgbClr val="14F195"/>
                </a:solidFill>
                <a:latin typeface="Segoe UI"/>
              </a:rPr>
              <a:t>THE MOMENT THE INTERMEDIARY IS NO LONGER NEEDED</a:t>
            </a:r>
          </a:p>
        </p:txBody>
      </p:sp>
      <p:sp>
        <p:nvSpPr>
          <p:cNvPr id="33" name="TextBox 32"/>
          <p:cNvSpPr txBox="1"/>
          <p:nvPr/>
        </p:nvSpPr>
        <p:spPr>
          <a:xfrm>
            <a:off x="6967728" y="2423160"/>
            <a:ext cx="4434840" cy="1280160"/>
          </a:xfrm>
          <a:prstGeom prst="rect">
            <a:avLst/>
          </a:prstGeom>
          <a:noFill/>
        </p:spPr>
        <p:txBody>
          <a:bodyPr wrap="square" lIns="0" rIns="0" tIns="0" bIns="0" anchor="t">
            <a:noAutofit/>
          </a:bodyPr>
          <a:lstStyle/>
          <a:p>
            <a:pPr algn="l">
              <a:lnSpc>
                <a:spcPct val="100000"/>
              </a:lnSpc>
            </a:pPr>
            <a:r>
              <a:rPr sz="1350" b="1" i="0">
                <a:solidFill>
                  <a:srgbClr val="F4F6FF"/>
                </a:solidFill>
                <a:latin typeface="Segoe UI"/>
              </a:rPr>
              <a:t>Seller vanished? </a:t>
            </a:r>
            <a:r>
              <a:rPr sz="1350" b="0" i="0">
                <a:solidFill>
                  <a:srgbClr val="B4BCD6"/>
                </a:solidFill>
                <a:latin typeface="Segoe UI"/>
              </a:rPr>
              <a:t>After the deadline, </a:t>
            </a:r>
            <a:r>
              <a:rPr sz="1350" b="1" i="0">
                <a:solidFill>
                  <a:srgbClr val="14F195"/>
                </a:solidFill>
                <a:latin typeface="Segoe UI"/>
              </a:rPr>
              <a:t>anyone</a:t>
            </a:r>
            <a:r>
              <a:rPr sz="1350" b="0" i="0">
                <a:solidFill>
                  <a:srgbClr val="B4BCD6"/>
                </a:solidFill>
                <a:latin typeface="Segoe UI"/>
              </a:rPr>
              <a:t> can press “Apply the outcome” (claim_after_deadline). The program counts the missing party as a no-show and pays out by the rule. No court, no support ticket, no admin.</a:t>
            </a:r>
          </a:p>
        </p:txBody>
      </p:sp>
      <p:sp>
        <p:nvSpPr>
          <p:cNvPr id="34" name="Rounded Rectangle 33"/>
          <p:cNvSpPr/>
          <p:nvPr/>
        </p:nvSpPr>
        <p:spPr>
          <a:xfrm>
            <a:off x="6720840" y="3977639"/>
            <a:ext cx="4873752" cy="2121408"/>
          </a:xfrm>
          <a:prstGeom prst="roundRect">
            <a:avLst>
              <a:gd name="adj" fmla="val 6896"/>
            </a:avLst>
          </a:prstGeom>
          <a:solidFill>
            <a:srgbClr val="0F1529"/>
          </a:solidFill>
          <a:ln w="12700">
            <a:solidFill>
              <a:srgbClr val="243055"/>
            </a:solidFill>
          </a:ln>
        </p:spPr>
        <p:txBody>
          <a:bodyPr rtlCol="0" anchor="ctr"/>
          <a:lstStyle/>
          <a:p>
            <a:pPr algn="ctr"/>
          </a:p>
        </p:txBody>
      </p:sp>
      <p:sp>
        <p:nvSpPr>
          <p:cNvPr id="35" name="TextBox 34"/>
          <p:cNvSpPr txBox="1"/>
          <p:nvPr/>
        </p:nvSpPr>
        <p:spPr>
          <a:xfrm>
            <a:off x="6967728" y="4087368"/>
            <a:ext cx="4480560" cy="274320"/>
          </a:xfrm>
          <a:prstGeom prst="rect">
            <a:avLst/>
          </a:prstGeom>
          <a:noFill/>
        </p:spPr>
        <p:txBody>
          <a:bodyPr wrap="square" lIns="0" rIns="0" tIns="0" bIns="0" anchor="t">
            <a:noAutofit/>
          </a:bodyPr>
          <a:lstStyle/>
          <a:p>
            <a:pPr algn="l">
              <a:lnSpc>
                <a:spcPct val="100000"/>
              </a:lnSpc>
            </a:pPr>
            <a:r>
              <a:rPr sz="1000" b="1" i="0" spc="150">
                <a:solidFill>
                  <a:srgbClr val="6F7A9A"/>
                </a:solidFill>
                <a:latin typeface="Segoe UI"/>
              </a:rPr>
              <a:t>WHO CAN CALL WHAT</a:t>
            </a:r>
          </a:p>
        </p:txBody>
      </p:sp>
      <p:sp>
        <p:nvSpPr>
          <p:cNvPr id="36" name="TextBox 35"/>
          <p:cNvSpPr txBox="1"/>
          <p:nvPr/>
        </p:nvSpPr>
        <p:spPr>
          <a:xfrm>
            <a:off x="6967728" y="4352544"/>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create_offer</a:t>
            </a:r>
          </a:p>
        </p:txBody>
      </p:sp>
      <p:sp>
        <p:nvSpPr>
          <p:cNvPr id="37" name="TextBox 36"/>
          <p:cNvSpPr txBox="1"/>
          <p:nvPr/>
        </p:nvSpPr>
        <p:spPr>
          <a:xfrm>
            <a:off x="9692640" y="4352544"/>
            <a:ext cx="1691640" cy="228600"/>
          </a:xfrm>
          <a:prstGeom prst="rect">
            <a:avLst/>
          </a:prstGeom>
          <a:noFill/>
        </p:spPr>
        <p:txBody>
          <a:bodyPr wrap="square" lIns="0" rIns="0" tIns="0" bIns="0" anchor="ctr">
            <a:noAutofit/>
          </a:bodyPr>
          <a:lstStyle/>
          <a:p>
            <a:pPr algn="r">
              <a:lnSpc>
                <a:spcPct val="100000"/>
              </a:lnSpc>
            </a:pPr>
            <a:r>
              <a:rPr sz="1000" b="0" i="0">
                <a:solidFill>
                  <a:srgbClr val="B4BCD6"/>
                </a:solidFill>
                <a:latin typeface="Segoe UI"/>
              </a:rPr>
              <a:t>payee</a:t>
            </a:r>
          </a:p>
        </p:txBody>
      </p:sp>
      <p:sp>
        <p:nvSpPr>
          <p:cNvPr id="38" name="TextBox 37"/>
          <p:cNvSpPr txBox="1"/>
          <p:nvPr/>
        </p:nvSpPr>
        <p:spPr>
          <a:xfrm>
            <a:off x="6967728" y="4576572"/>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reserve</a:t>
            </a:r>
          </a:p>
        </p:txBody>
      </p:sp>
      <p:sp>
        <p:nvSpPr>
          <p:cNvPr id="39" name="TextBox 38"/>
          <p:cNvSpPr txBox="1"/>
          <p:nvPr/>
        </p:nvSpPr>
        <p:spPr>
          <a:xfrm>
            <a:off x="9692640" y="4576572"/>
            <a:ext cx="1691640" cy="228600"/>
          </a:xfrm>
          <a:prstGeom prst="rect">
            <a:avLst/>
          </a:prstGeom>
          <a:noFill/>
        </p:spPr>
        <p:txBody>
          <a:bodyPr wrap="square" lIns="0" rIns="0" tIns="0" bIns="0" anchor="ctr">
            <a:noAutofit/>
          </a:bodyPr>
          <a:lstStyle/>
          <a:p>
            <a:pPr algn="r">
              <a:lnSpc>
                <a:spcPct val="100000"/>
              </a:lnSpc>
            </a:pPr>
            <a:r>
              <a:rPr sz="1000" b="0" i="0">
                <a:solidFill>
                  <a:srgbClr val="B4BCD6"/>
                </a:solidFill>
                <a:latin typeface="Segoe UI"/>
              </a:rPr>
              <a:t>payer</a:t>
            </a:r>
          </a:p>
        </p:txBody>
      </p:sp>
      <p:sp>
        <p:nvSpPr>
          <p:cNvPr id="40" name="TextBox 39"/>
          <p:cNvSpPr txBox="1"/>
          <p:nvPr/>
        </p:nvSpPr>
        <p:spPr>
          <a:xfrm>
            <a:off x="6967728" y="4800600"/>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confirm_complete · withdraw · open_dispute</a:t>
            </a:r>
          </a:p>
        </p:txBody>
      </p:sp>
      <p:sp>
        <p:nvSpPr>
          <p:cNvPr id="41" name="TextBox 40"/>
          <p:cNvSpPr txBox="1"/>
          <p:nvPr/>
        </p:nvSpPr>
        <p:spPr>
          <a:xfrm>
            <a:off x="9692640" y="4800600"/>
            <a:ext cx="1691640" cy="228600"/>
          </a:xfrm>
          <a:prstGeom prst="rect">
            <a:avLst/>
          </a:prstGeom>
          <a:noFill/>
        </p:spPr>
        <p:txBody>
          <a:bodyPr wrap="square" lIns="0" rIns="0" tIns="0" bIns="0" anchor="ctr">
            <a:noAutofit/>
          </a:bodyPr>
          <a:lstStyle/>
          <a:p>
            <a:pPr algn="r">
              <a:lnSpc>
                <a:spcPct val="100000"/>
              </a:lnSpc>
            </a:pPr>
            <a:r>
              <a:rPr sz="1000" b="0" i="0">
                <a:solidFill>
                  <a:srgbClr val="B4BCD6"/>
                </a:solidFill>
                <a:latin typeface="Segoe UI"/>
              </a:rPr>
              <a:t>payer or payee</a:t>
            </a:r>
          </a:p>
        </p:txBody>
      </p:sp>
      <p:sp>
        <p:nvSpPr>
          <p:cNvPr id="42" name="TextBox 41"/>
          <p:cNvSpPr txBox="1"/>
          <p:nvPr/>
        </p:nvSpPr>
        <p:spPr>
          <a:xfrm>
            <a:off x="6967728" y="5024628"/>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resolve</a:t>
            </a:r>
          </a:p>
        </p:txBody>
      </p:sp>
      <p:sp>
        <p:nvSpPr>
          <p:cNvPr id="43" name="TextBox 42"/>
          <p:cNvSpPr txBox="1"/>
          <p:nvPr/>
        </p:nvSpPr>
        <p:spPr>
          <a:xfrm>
            <a:off x="9692640" y="5024628"/>
            <a:ext cx="1691640" cy="228600"/>
          </a:xfrm>
          <a:prstGeom prst="rect">
            <a:avLst/>
          </a:prstGeom>
          <a:noFill/>
        </p:spPr>
        <p:txBody>
          <a:bodyPr wrap="square" lIns="0" rIns="0" tIns="0" bIns="0" anchor="ctr">
            <a:noAutofit/>
          </a:bodyPr>
          <a:lstStyle/>
          <a:p>
            <a:pPr algn="r">
              <a:lnSpc>
                <a:spcPct val="100000"/>
              </a:lnSpc>
            </a:pPr>
            <a:r>
              <a:rPr sz="1000" b="0" i="0">
                <a:solidFill>
                  <a:srgbClr val="B4BCD6"/>
                </a:solidFill>
                <a:latin typeface="Segoe UI"/>
              </a:rPr>
              <a:t>arbiter, only if agreed</a:t>
            </a:r>
          </a:p>
        </p:txBody>
      </p:sp>
      <p:sp>
        <p:nvSpPr>
          <p:cNvPr id="44" name="TextBox 43"/>
          <p:cNvSpPr txBox="1"/>
          <p:nvPr/>
        </p:nvSpPr>
        <p:spPr>
          <a:xfrm>
            <a:off x="6967728" y="5248656"/>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claim_after_deadline · expire_dispute</a:t>
            </a:r>
          </a:p>
        </p:txBody>
      </p:sp>
      <p:sp>
        <p:nvSpPr>
          <p:cNvPr id="45" name="TextBox 44"/>
          <p:cNvSpPr txBox="1"/>
          <p:nvPr/>
        </p:nvSpPr>
        <p:spPr>
          <a:xfrm>
            <a:off x="9692640" y="5248656"/>
            <a:ext cx="1691640" cy="228600"/>
          </a:xfrm>
          <a:prstGeom prst="rect">
            <a:avLst/>
          </a:prstGeom>
          <a:noFill/>
        </p:spPr>
        <p:txBody>
          <a:bodyPr wrap="square" lIns="0" rIns="0" tIns="0" bIns="0" anchor="ctr">
            <a:noAutofit/>
          </a:bodyPr>
          <a:lstStyle/>
          <a:p>
            <a:pPr algn="r">
              <a:lnSpc>
                <a:spcPct val="100000"/>
              </a:lnSpc>
            </a:pPr>
            <a:r>
              <a:rPr sz="1000" b="1" i="0">
                <a:solidFill>
                  <a:srgbClr val="14F195"/>
                </a:solidFill>
                <a:latin typeface="Segoe UI"/>
              </a:rPr>
              <a:t>anyone</a:t>
            </a:r>
          </a:p>
        </p:txBody>
      </p:sp>
      <p:sp>
        <p:nvSpPr>
          <p:cNvPr id="46" name="TextBox 45"/>
          <p:cNvSpPr txBox="1"/>
          <p:nvPr/>
        </p:nvSpPr>
        <p:spPr>
          <a:xfrm>
            <a:off x="6967728" y="5472683"/>
            <a:ext cx="3291840" cy="228600"/>
          </a:xfrm>
          <a:prstGeom prst="rect">
            <a:avLst/>
          </a:prstGeom>
          <a:noFill/>
        </p:spPr>
        <p:txBody>
          <a:bodyPr wrap="square" lIns="0" rIns="0" tIns="0" bIns="0" anchor="ctr">
            <a:noAutofit/>
          </a:bodyPr>
          <a:lstStyle/>
          <a:p>
            <a:pPr algn="l">
              <a:lnSpc>
                <a:spcPct val="100000"/>
              </a:lnSpc>
            </a:pPr>
            <a:r>
              <a:rPr sz="1000" b="0" i="0">
                <a:solidFill>
                  <a:srgbClr val="F4F6FF"/>
                </a:solidFill>
                <a:latin typeface="Consolas"/>
              </a:rPr>
              <a:t>cancel_offer</a:t>
            </a:r>
          </a:p>
        </p:txBody>
      </p:sp>
      <p:sp>
        <p:nvSpPr>
          <p:cNvPr id="47" name="TextBox 46"/>
          <p:cNvSpPr txBox="1"/>
          <p:nvPr/>
        </p:nvSpPr>
        <p:spPr>
          <a:xfrm>
            <a:off x="9692640" y="5472683"/>
            <a:ext cx="1691640" cy="228600"/>
          </a:xfrm>
          <a:prstGeom prst="rect">
            <a:avLst/>
          </a:prstGeom>
          <a:noFill/>
        </p:spPr>
        <p:txBody>
          <a:bodyPr wrap="square" lIns="0" rIns="0" tIns="0" bIns="0" anchor="ctr">
            <a:noAutofit/>
          </a:bodyPr>
          <a:lstStyle/>
          <a:p>
            <a:pPr algn="r">
              <a:lnSpc>
                <a:spcPct val="100000"/>
              </a:lnSpc>
            </a:pPr>
            <a:r>
              <a:rPr sz="1000" b="0" i="0">
                <a:solidFill>
                  <a:srgbClr val="B4BCD6"/>
                </a:solidFill>
                <a:latin typeface="Segoe UI"/>
              </a:rPr>
              <a:t>payee; anyone after window</a:t>
            </a:r>
          </a:p>
        </p:txBody>
      </p:sp>
      <p:sp>
        <p:nvSpPr>
          <p:cNvPr id="48" name="TextBox 47"/>
          <p:cNvSpPr txBox="1"/>
          <p:nvPr/>
        </p:nvSpPr>
        <p:spPr>
          <a:xfrm>
            <a:off x="6967728" y="5779008"/>
            <a:ext cx="4480560" cy="274320"/>
          </a:xfrm>
          <a:prstGeom prst="rect">
            <a:avLst/>
          </a:prstGeom>
          <a:noFill/>
        </p:spPr>
        <p:txBody>
          <a:bodyPr wrap="square" lIns="0" rIns="0" tIns="0" bIns="0" anchor="t">
            <a:noAutofit/>
          </a:bodyPr>
          <a:lstStyle/>
          <a:p>
            <a:pPr algn="l">
              <a:lnSpc>
                <a:spcPct val="100000"/>
              </a:lnSpc>
            </a:pPr>
            <a:r>
              <a:rPr sz="1050" b="1" i="0">
                <a:solidFill>
                  <a:srgbClr val="F4F6FF"/>
                </a:solidFill>
                <a:latin typeface="Segoe UI"/>
              </a:rPr>
              <a:t>No admin instruction. </a:t>
            </a:r>
            <a:r>
              <a:rPr sz="1050" b="0" i="0">
                <a:solidFill>
                  <a:srgbClr val="B4BCD6"/>
                </a:solidFill>
                <a:latin typeface="Segoe UI"/>
              </a:rPr>
              <a:t>Upgrade authority will be revoked after final deploy.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06  ·  THE RULE ENGINE</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Same program, four templates, one payout table</a:t>
            </a:r>
          </a:p>
        </p:txBody>
      </p:sp>
      <p:sp>
        <p:nvSpPr>
          <p:cNvPr id="5" name="TextBox 4"/>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6" name="TextBox 5"/>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06 / 10</a:t>
            </a:r>
          </a:p>
        </p:txBody>
      </p:sp>
      <p:sp>
        <p:nvSpPr>
          <p:cNvPr id="7" name="Rounded Rectangle 6"/>
          <p:cNvSpPr/>
          <p:nvPr/>
        </p:nvSpPr>
        <p:spPr>
          <a:xfrm>
            <a:off x="640080" y="1481328"/>
            <a:ext cx="2642616" cy="960120"/>
          </a:xfrm>
          <a:prstGeom prst="roundRect">
            <a:avLst>
              <a:gd name="adj" fmla="val 11428"/>
            </a:avLst>
          </a:prstGeom>
          <a:solidFill>
            <a:srgbClr val="16163A"/>
          </a:solidFill>
          <a:ln w="12700">
            <a:solidFill>
              <a:srgbClr val="8B5CF6"/>
            </a:solidFill>
          </a:ln>
        </p:spPr>
        <p:txBody>
          <a:bodyPr rtlCol="0" anchor="ctr"/>
          <a:lstStyle/>
          <a:p>
            <a:pPr algn="ctr"/>
          </a:p>
        </p:txBody>
      </p:sp>
      <p:sp>
        <p:nvSpPr>
          <p:cNvPr id="8" name="TextBox 7"/>
          <p:cNvSpPr txBox="1"/>
          <p:nvPr/>
        </p:nvSpPr>
        <p:spPr>
          <a:xfrm>
            <a:off x="822959" y="1554480"/>
            <a:ext cx="2286000" cy="292608"/>
          </a:xfrm>
          <a:prstGeom prst="rect">
            <a:avLst/>
          </a:prstGeom>
          <a:noFill/>
        </p:spPr>
        <p:txBody>
          <a:bodyPr wrap="square" lIns="0" rIns="0" tIns="0" bIns="0" anchor="ctr">
            <a:noAutofit/>
          </a:bodyPr>
          <a:lstStyle/>
          <a:p>
            <a:pPr algn="l">
              <a:lnSpc>
                <a:spcPct val="100000"/>
              </a:lnSpc>
            </a:pPr>
            <a:r>
              <a:rPr sz="1350" b="1" i="0">
                <a:solidFill>
                  <a:srgbClr val="F4F6FF"/>
                </a:solidFill>
                <a:latin typeface="Segoe UI"/>
              </a:rPr>
              <a:t>Deposit · zadatek</a:t>
            </a:r>
          </a:p>
        </p:txBody>
      </p:sp>
      <p:sp>
        <p:nvSpPr>
          <p:cNvPr id="9" name="TextBox 8"/>
          <p:cNvSpPr txBox="1"/>
          <p:nvPr/>
        </p:nvSpPr>
        <p:spPr>
          <a:xfrm>
            <a:off x="822959" y="1847088"/>
            <a:ext cx="2286000" cy="228600"/>
          </a:xfrm>
          <a:prstGeom prst="rect">
            <a:avLst/>
          </a:prstGeom>
          <a:noFill/>
        </p:spPr>
        <p:txBody>
          <a:bodyPr wrap="square" lIns="0" rIns="0" tIns="0" bIns="0" anchor="t">
            <a:noAutofit/>
          </a:bodyPr>
          <a:lstStyle/>
          <a:p>
            <a:pPr algn="l">
              <a:lnSpc>
                <a:spcPct val="100000"/>
              </a:lnSpc>
            </a:pPr>
            <a:r>
              <a:rPr sz="1000" b="0" i="0">
                <a:solidFill>
                  <a:srgbClr val="B4BCD6"/>
                </a:solidFill>
                <a:latin typeface="Segoe UI"/>
              </a:rPr>
              <a:t>payer / payee = buyer / seller</a:t>
            </a:r>
          </a:p>
        </p:txBody>
      </p:sp>
      <p:sp>
        <p:nvSpPr>
          <p:cNvPr id="10" name="TextBox 9"/>
          <p:cNvSpPr txBox="1"/>
          <p:nvPr/>
        </p:nvSpPr>
        <p:spPr>
          <a:xfrm>
            <a:off x="822959" y="2103120"/>
            <a:ext cx="2286000" cy="228600"/>
          </a:xfrm>
          <a:prstGeom prst="rect">
            <a:avLst/>
          </a:prstGeom>
          <a:noFill/>
        </p:spPr>
        <p:txBody>
          <a:bodyPr wrap="square" lIns="0" rIns="0" tIns="0" bIns="0" anchor="t">
            <a:noAutofit/>
          </a:bodyPr>
          <a:lstStyle/>
          <a:p>
            <a:pPr algn="l">
              <a:lnSpc>
                <a:spcPct val="100000"/>
              </a:lnSpc>
            </a:pPr>
            <a:r>
              <a:rPr sz="1000" b="0" i="0">
                <a:solidFill>
                  <a:srgbClr val="14F195"/>
                </a:solidFill>
                <a:latin typeface="Consolas"/>
              </a:rPr>
              <a:t>Forfeit · ToPayee · S=D</a:t>
            </a:r>
          </a:p>
        </p:txBody>
      </p:sp>
      <p:sp>
        <p:nvSpPr>
          <p:cNvPr id="11" name="Rounded Rectangle 10"/>
          <p:cNvSpPr/>
          <p:nvPr/>
        </p:nvSpPr>
        <p:spPr>
          <a:xfrm>
            <a:off x="3410711" y="1481328"/>
            <a:ext cx="2642616" cy="960120"/>
          </a:xfrm>
          <a:prstGeom prst="roundRect">
            <a:avLst>
              <a:gd name="adj" fmla="val 11428"/>
            </a:avLst>
          </a:prstGeom>
          <a:solidFill>
            <a:srgbClr val="0F1529"/>
          </a:solidFill>
          <a:ln w="12700">
            <a:solidFill>
              <a:srgbClr val="243055"/>
            </a:solidFill>
          </a:ln>
        </p:spPr>
        <p:txBody>
          <a:bodyPr rtlCol="0" anchor="ctr"/>
          <a:lstStyle/>
          <a:p>
            <a:pPr algn="ctr"/>
          </a:p>
        </p:txBody>
      </p:sp>
      <p:sp>
        <p:nvSpPr>
          <p:cNvPr id="12" name="TextBox 11"/>
          <p:cNvSpPr txBox="1"/>
          <p:nvPr/>
        </p:nvSpPr>
        <p:spPr>
          <a:xfrm>
            <a:off x="3593591" y="1554480"/>
            <a:ext cx="2286000" cy="292608"/>
          </a:xfrm>
          <a:prstGeom prst="rect">
            <a:avLst/>
          </a:prstGeom>
          <a:noFill/>
        </p:spPr>
        <p:txBody>
          <a:bodyPr wrap="square" lIns="0" rIns="0" tIns="0" bIns="0" anchor="ctr">
            <a:noAutofit/>
          </a:bodyPr>
          <a:lstStyle/>
          <a:p>
            <a:pPr algn="l">
              <a:lnSpc>
                <a:spcPct val="100000"/>
              </a:lnSpc>
            </a:pPr>
            <a:r>
              <a:rPr sz="1350" b="1" i="0">
                <a:solidFill>
                  <a:srgbClr val="F4F6FF"/>
                </a:solidFill>
                <a:latin typeface="Segoe UI"/>
              </a:rPr>
              <a:t>Rental</a:t>
            </a:r>
          </a:p>
        </p:txBody>
      </p:sp>
      <p:sp>
        <p:nvSpPr>
          <p:cNvPr id="13" name="TextBox 12"/>
          <p:cNvSpPr txBox="1"/>
          <p:nvPr/>
        </p:nvSpPr>
        <p:spPr>
          <a:xfrm>
            <a:off x="3593591" y="1847088"/>
            <a:ext cx="2286000" cy="228600"/>
          </a:xfrm>
          <a:prstGeom prst="rect">
            <a:avLst/>
          </a:prstGeom>
          <a:noFill/>
        </p:spPr>
        <p:txBody>
          <a:bodyPr wrap="square" lIns="0" rIns="0" tIns="0" bIns="0" anchor="t">
            <a:noAutofit/>
          </a:bodyPr>
          <a:lstStyle/>
          <a:p>
            <a:pPr algn="l">
              <a:lnSpc>
                <a:spcPct val="100000"/>
              </a:lnSpc>
            </a:pPr>
            <a:r>
              <a:rPr sz="1000" b="0" i="0">
                <a:solidFill>
                  <a:srgbClr val="B4BCD6"/>
                </a:solidFill>
                <a:latin typeface="Segoe UI"/>
              </a:rPr>
              <a:t>payer / payee = renter / owner</a:t>
            </a:r>
          </a:p>
        </p:txBody>
      </p:sp>
      <p:sp>
        <p:nvSpPr>
          <p:cNvPr id="14" name="TextBox 13"/>
          <p:cNvSpPr txBox="1"/>
          <p:nvPr/>
        </p:nvSpPr>
        <p:spPr>
          <a:xfrm>
            <a:off x="3593591" y="2103120"/>
            <a:ext cx="2286000" cy="228600"/>
          </a:xfrm>
          <a:prstGeom prst="rect">
            <a:avLst/>
          </a:prstGeom>
          <a:noFill/>
        </p:spPr>
        <p:txBody>
          <a:bodyPr wrap="square" lIns="0" rIns="0" tIns="0" bIns="0" anchor="t">
            <a:noAutofit/>
          </a:bodyPr>
          <a:lstStyle/>
          <a:p>
            <a:pPr algn="l">
              <a:lnSpc>
                <a:spcPct val="100000"/>
              </a:lnSpc>
            </a:pPr>
            <a:r>
              <a:rPr sz="1000" b="0" i="0">
                <a:solidFill>
                  <a:srgbClr val="F4F6FF"/>
                </a:solidFill>
                <a:latin typeface="Consolas"/>
              </a:rPr>
              <a:t>Forfeit · ToPayer · S=0</a:t>
            </a:r>
          </a:p>
        </p:txBody>
      </p:sp>
      <p:sp>
        <p:nvSpPr>
          <p:cNvPr id="15" name="Rounded Rectangle 14"/>
          <p:cNvSpPr/>
          <p:nvPr/>
        </p:nvSpPr>
        <p:spPr>
          <a:xfrm>
            <a:off x="6181344" y="1481328"/>
            <a:ext cx="2642616" cy="960120"/>
          </a:xfrm>
          <a:prstGeom prst="roundRect">
            <a:avLst>
              <a:gd name="adj" fmla="val 11428"/>
            </a:avLst>
          </a:prstGeom>
          <a:solidFill>
            <a:srgbClr val="0F1529"/>
          </a:solidFill>
          <a:ln w="12700">
            <a:solidFill>
              <a:srgbClr val="243055"/>
            </a:solidFill>
          </a:ln>
        </p:spPr>
        <p:txBody>
          <a:bodyPr rtlCol="0" anchor="ctr"/>
          <a:lstStyle/>
          <a:p>
            <a:pPr algn="ctr"/>
          </a:p>
        </p:txBody>
      </p:sp>
      <p:sp>
        <p:nvSpPr>
          <p:cNvPr id="16" name="TextBox 15"/>
          <p:cNvSpPr txBox="1"/>
          <p:nvPr/>
        </p:nvSpPr>
        <p:spPr>
          <a:xfrm>
            <a:off x="6364224" y="1554480"/>
            <a:ext cx="2286000" cy="292608"/>
          </a:xfrm>
          <a:prstGeom prst="rect">
            <a:avLst/>
          </a:prstGeom>
          <a:noFill/>
        </p:spPr>
        <p:txBody>
          <a:bodyPr wrap="square" lIns="0" rIns="0" tIns="0" bIns="0" anchor="ctr">
            <a:noAutofit/>
          </a:bodyPr>
          <a:lstStyle/>
          <a:p>
            <a:pPr algn="l">
              <a:lnSpc>
                <a:spcPct val="100000"/>
              </a:lnSpc>
            </a:pPr>
            <a:r>
              <a:rPr sz="1350" b="1" i="0">
                <a:solidFill>
                  <a:srgbClr val="F4F6FF"/>
                </a:solidFill>
                <a:latin typeface="Segoe UI"/>
              </a:rPr>
              <a:t>Freelance</a:t>
            </a:r>
          </a:p>
        </p:txBody>
      </p:sp>
      <p:sp>
        <p:nvSpPr>
          <p:cNvPr id="17" name="TextBox 16"/>
          <p:cNvSpPr txBox="1"/>
          <p:nvPr/>
        </p:nvSpPr>
        <p:spPr>
          <a:xfrm>
            <a:off x="6364224" y="1847088"/>
            <a:ext cx="2286000" cy="228600"/>
          </a:xfrm>
          <a:prstGeom prst="rect">
            <a:avLst/>
          </a:prstGeom>
          <a:noFill/>
        </p:spPr>
        <p:txBody>
          <a:bodyPr wrap="square" lIns="0" rIns="0" tIns="0" bIns="0" anchor="t">
            <a:noAutofit/>
          </a:bodyPr>
          <a:lstStyle/>
          <a:p>
            <a:pPr algn="l">
              <a:lnSpc>
                <a:spcPct val="100000"/>
              </a:lnSpc>
            </a:pPr>
            <a:r>
              <a:rPr sz="1000" b="0" i="0">
                <a:solidFill>
                  <a:srgbClr val="B4BCD6"/>
                </a:solidFill>
                <a:latin typeface="Segoe UI"/>
              </a:rPr>
              <a:t>payer / payee = client / freelancer</a:t>
            </a:r>
          </a:p>
        </p:txBody>
      </p:sp>
      <p:sp>
        <p:nvSpPr>
          <p:cNvPr id="18" name="TextBox 17"/>
          <p:cNvSpPr txBox="1"/>
          <p:nvPr/>
        </p:nvSpPr>
        <p:spPr>
          <a:xfrm>
            <a:off x="6364224" y="2103120"/>
            <a:ext cx="2286000" cy="228600"/>
          </a:xfrm>
          <a:prstGeom prst="rect">
            <a:avLst/>
          </a:prstGeom>
          <a:noFill/>
        </p:spPr>
        <p:txBody>
          <a:bodyPr wrap="square" lIns="0" rIns="0" tIns="0" bIns="0" anchor="t">
            <a:noAutofit/>
          </a:bodyPr>
          <a:lstStyle/>
          <a:p>
            <a:pPr algn="l">
              <a:lnSpc>
                <a:spcPct val="100000"/>
              </a:lnSpc>
            </a:pPr>
            <a:r>
              <a:rPr sz="1000" b="0" i="0">
                <a:solidFill>
                  <a:srgbClr val="F4F6FF"/>
                </a:solidFill>
                <a:latin typeface="Consolas"/>
              </a:rPr>
              <a:t>Forfeit · ToPayee · S=0</a:t>
            </a:r>
          </a:p>
        </p:txBody>
      </p:sp>
      <p:sp>
        <p:nvSpPr>
          <p:cNvPr id="19" name="Rounded Rectangle 18"/>
          <p:cNvSpPr/>
          <p:nvPr/>
        </p:nvSpPr>
        <p:spPr>
          <a:xfrm>
            <a:off x="8951976" y="1481328"/>
            <a:ext cx="2642616" cy="960120"/>
          </a:xfrm>
          <a:prstGeom prst="roundRect">
            <a:avLst>
              <a:gd name="adj" fmla="val 11428"/>
            </a:avLst>
          </a:prstGeom>
          <a:solidFill>
            <a:srgbClr val="0F1529"/>
          </a:solidFill>
          <a:ln w="12700">
            <a:solidFill>
              <a:srgbClr val="243055"/>
            </a:solidFill>
          </a:ln>
        </p:spPr>
        <p:txBody>
          <a:bodyPr rtlCol="0" anchor="ctr"/>
          <a:lstStyle/>
          <a:p>
            <a:pPr algn="ctr"/>
          </a:p>
        </p:txBody>
      </p:sp>
      <p:sp>
        <p:nvSpPr>
          <p:cNvPr id="20" name="TextBox 19"/>
          <p:cNvSpPr txBox="1"/>
          <p:nvPr/>
        </p:nvSpPr>
        <p:spPr>
          <a:xfrm>
            <a:off x="9134855" y="1554480"/>
            <a:ext cx="2286000" cy="292608"/>
          </a:xfrm>
          <a:prstGeom prst="rect">
            <a:avLst/>
          </a:prstGeom>
          <a:noFill/>
        </p:spPr>
        <p:txBody>
          <a:bodyPr wrap="square" lIns="0" rIns="0" tIns="0" bIns="0" anchor="ctr">
            <a:noAutofit/>
          </a:bodyPr>
          <a:lstStyle/>
          <a:p>
            <a:pPr algn="l">
              <a:lnSpc>
                <a:spcPct val="100000"/>
              </a:lnSpc>
            </a:pPr>
            <a:r>
              <a:rPr sz="1350" b="1" i="0">
                <a:solidFill>
                  <a:srgbClr val="F4F6FF"/>
                </a:solidFill>
                <a:latin typeface="Segoe UI"/>
              </a:rPr>
              <a:t>Purchase</a:t>
            </a:r>
          </a:p>
        </p:txBody>
      </p:sp>
      <p:sp>
        <p:nvSpPr>
          <p:cNvPr id="21" name="TextBox 20"/>
          <p:cNvSpPr txBox="1"/>
          <p:nvPr/>
        </p:nvSpPr>
        <p:spPr>
          <a:xfrm>
            <a:off x="9134855" y="1847088"/>
            <a:ext cx="2286000" cy="228600"/>
          </a:xfrm>
          <a:prstGeom prst="rect">
            <a:avLst/>
          </a:prstGeom>
          <a:noFill/>
        </p:spPr>
        <p:txBody>
          <a:bodyPr wrap="square" lIns="0" rIns="0" tIns="0" bIns="0" anchor="t">
            <a:noAutofit/>
          </a:bodyPr>
          <a:lstStyle/>
          <a:p>
            <a:pPr algn="l">
              <a:lnSpc>
                <a:spcPct val="100000"/>
              </a:lnSpc>
            </a:pPr>
            <a:r>
              <a:rPr sz="1000" b="0" i="0">
                <a:solidFill>
                  <a:srgbClr val="B4BCD6"/>
                </a:solidFill>
                <a:latin typeface="Segoe UI"/>
              </a:rPr>
              <a:t>payer / payee = buyer / seller</a:t>
            </a:r>
          </a:p>
        </p:txBody>
      </p:sp>
      <p:sp>
        <p:nvSpPr>
          <p:cNvPr id="22" name="TextBox 21"/>
          <p:cNvSpPr txBox="1"/>
          <p:nvPr/>
        </p:nvSpPr>
        <p:spPr>
          <a:xfrm>
            <a:off x="9134855" y="2103120"/>
            <a:ext cx="2286000" cy="228600"/>
          </a:xfrm>
          <a:prstGeom prst="rect">
            <a:avLst/>
          </a:prstGeom>
          <a:noFill/>
        </p:spPr>
        <p:txBody>
          <a:bodyPr wrap="square" lIns="0" rIns="0" tIns="0" bIns="0" anchor="t">
            <a:noAutofit/>
          </a:bodyPr>
          <a:lstStyle/>
          <a:p>
            <a:pPr algn="l">
              <a:lnSpc>
                <a:spcPct val="100000"/>
              </a:lnSpc>
            </a:pPr>
            <a:r>
              <a:rPr sz="1000" b="0" i="0">
                <a:solidFill>
                  <a:srgbClr val="F4F6FF"/>
                </a:solidFill>
                <a:latin typeface="Consolas"/>
              </a:rPr>
              <a:t>Forfeit · ToPayee · S=0</a:t>
            </a:r>
          </a:p>
        </p:txBody>
      </p:sp>
      <p:sp>
        <p:nvSpPr>
          <p:cNvPr id="23" name="Rounded Rectangle 22"/>
          <p:cNvSpPr/>
          <p:nvPr/>
        </p:nvSpPr>
        <p:spPr>
          <a:xfrm>
            <a:off x="640080" y="2606040"/>
            <a:ext cx="10954512" cy="3300984"/>
          </a:xfrm>
          <a:prstGeom prst="roundRect">
            <a:avLst>
              <a:gd name="adj" fmla="val 3324"/>
            </a:avLst>
          </a:prstGeom>
          <a:solidFill>
            <a:srgbClr val="0F1529"/>
          </a:solidFill>
          <a:ln w="12700">
            <a:solidFill>
              <a:srgbClr val="243055"/>
            </a:solidFill>
          </a:ln>
        </p:spPr>
        <p:txBody>
          <a:bodyPr rtlCol="0" anchor="ctr"/>
          <a:lstStyle/>
          <a:p>
            <a:pPr algn="ctr"/>
          </a:p>
        </p:txBody>
      </p:sp>
      <p:sp>
        <p:nvSpPr>
          <p:cNvPr id="24" name="TextBox 23"/>
          <p:cNvSpPr txBox="1"/>
          <p:nvPr/>
        </p:nvSpPr>
        <p:spPr>
          <a:xfrm>
            <a:off x="868680" y="2606040"/>
            <a:ext cx="2423160" cy="512064"/>
          </a:xfrm>
          <a:prstGeom prst="rect">
            <a:avLst/>
          </a:prstGeom>
          <a:noFill/>
        </p:spPr>
        <p:txBody>
          <a:bodyPr wrap="square" lIns="0" rIns="0" tIns="0" bIns="0" anchor="ctr">
            <a:noAutofit/>
          </a:bodyPr>
          <a:lstStyle/>
          <a:p>
            <a:pPr algn="l">
              <a:lnSpc>
                <a:spcPct val="100000"/>
              </a:lnSpc>
            </a:pPr>
            <a:r>
              <a:rPr sz="1000" b="1" i="0" spc="150">
                <a:solidFill>
                  <a:srgbClr val="6F7A9A"/>
                </a:solidFill>
                <a:latin typeface="Segoe UI"/>
              </a:rPr>
              <a:t>OUTCOME</a:t>
            </a:r>
          </a:p>
        </p:txBody>
      </p:sp>
      <p:sp>
        <p:nvSpPr>
          <p:cNvPr id="25" name="TextBox 24"/>
          <p:cNvSpPr txBox="1"/>
          <p:nvPr/>
        </p:nvSpPr>
        <p:spPr>
          <a:xfrm>
            <a:off x="3566160" y="2606040"/>
            <a:ext cx="2971800" cy="512064"/>
          </a:xfrm>
          <a:prstGeom prst="rect">
            <a:avLst/>
          </a:prstGeom>
          <a:noFill/>
        </p:spPr>
        <p:txBody>
          <a:bodyPr wrap="square" lIns="0" rIns="0" tIns="0" bIns="0" anchor="ctr">
            <a:noAutofit/>
          </a:bodyPr>
          <a:lstStyle/>
          <a:p>
            <a:pPr algn="l">
              <a:lnSpc>
                <a:spcPct val="100000"/>
              </a:lnSpc>
            </a:pPr>
            <a:r>
              <a:rPr sz="1000" b="1" i="0" spc="150">
                <a:solidFill>
                  <a:srgbClr val="6F7A9A"/>
                </a:solidFill>
                <a:latin typeface="Segoe UI"/>
              </a:rPr>
              <a:t>WHEN</a:t>
            </a:r>
          </a:p>
        </p:txBody>
      </p:sp>
      <p:sp>
        <p:nvSpPr>
          <p:cNvPr id="26" name="Rounded Rectangle 25"/>
          <p:cNvSpPr/>
          <p:nvPr/>
        </p:nvSpPr>
        <p:spPr>
          <a:xfrm>
            <a:off x="6638544" y="2651760"/>
            <a:ext cx="2395728" cy="420624"/>
          </a:xfrm>
          <a:prstGeom prst="roundRect">
            <a:avLst>
              <a:gd name="adj" fmla="val 17391"/>
            </a:avLst>
          </a:prstGeom>
          <a:solidFill>
            <a:srgbClr val="1B1F4A"/>
          </a:solidFill>
          <a:ln>
            <a:noFill/>
          </a:ln>
        </p:spPr>
        <p:txBody>
          <a:bodyPr rtlCol="0" anchor="ctr"/>
          <a:lstStyle/>
          <a:p>
            <a:pPr algn="ctr"/>
          </a:p>
        </p:txBody>
      </p:sp>
      <p:sp>
        <p:nvSpPr>
          <p:cNvPr id="27" name="TextBox 26"/>
          <p:cNvSpPr txBox="1"/>
          <p:nvPr/>
        </p:nvSpPr>
        <p:spPr>
          <a:xfrm>
            <a:off x="6583680" y="2660904"/>
            <a:ext cx="2505456" cy="246888"/>
          </a:xfrm>
          <a:prstGeom prst="rect">
            <a:avLst/>
          </a:prstGeom>
          <a:noFill/>
        </p:spPr>
        <p:txBody>
          <a:bodyPr wrap="square" lIns="0" rIns="0" tIns="0" bIns="0" anchor="t">
            <a:noAutofit/>
          </a:bodyPr>
          <a:lstStyle/>
          <a:p>
            <a:pPr algn="ctr">
              <a:lnSpc>
                <a:spcPct val="100000"/>
              </a:lnSpc>
            </a:pPr>
            <a:r>
              <a:rPr sz="1200" b="1" i="0">
                <a:solidFill>
                  <a:srgbClr val="F4F6FF"/>
                </a:solidFill>
                <a:latin typeface="Segoe UI"/>
              </a:rPr>
              <a:t>Forfeit</a:t>
            </a:r>
          </a:p>
        </p:txBody>
      </p:sp>
      <p:sp>
        <p:nvSpPr>
          <p:cNvPr id="28" name="TextBox 27"/>
          <p:cNvSpPr txBox="1"/>
          <p:nvPr/>
        </p:nvSpPr>
        <p:spPr>
          <a:xfrm>
            <a:off x="6583680" y="2889504"/>
            <a:ext cx="2505456" cy="201168"/>
          </a:xfrm>
          <a:prstGeom prst="rect">
            <a:avLst/>
          </a:prstGeom>
          <a:noFill/>
        </p:spPr>
        <p:txBody>
          <a:bodyPr wrap="square" lIns="0" rIns="0" tIns="0" bIns="0" anchor="t">
            <a:noAutofit/>
          </a:bodyPr>
          <a:lstStyle/>
          <a:p>
            <a:pPr algn="ctr">
              <a:lnSpc>
                <a:spcPct val="100000"/>
              </a:lnSpc>
            </a:pPr>
            <a:r>
              <a:rPr sz="950" b="0" i="0">
                <a:solidFill>
                  <a:srgbClr val="6F7A9A"/>
                </a:solidFill>
                <a:latin typeface="Segoe UI"/>
              </a:rPr>
              <a:t>to payer  /  to payee</a:t>
            </a:r>
          </a:p>
        </p:txBody>
      </p:sp>
      <p:sp>
        <p:nvSpPr>
          <p:cNvPr id="29" name="Rounded Rectangle 28"/>
          <p:cNvSpPr/>
          <p:nvPr/>
        </p:nvSpPr>
        <p:spPr>
          <a:xfrm>
            <a:off x="9144000" y="2651760"/>
            <a:ext cx="2395728" cy="420624"/>
          </a:xfrm>
          <a:prstGeom prst="roundRect">
            <a:avLst>
              <a:gd name="adj" fmla="val 17391"/>
            </a:avLst>
          </a:prstGeom>
          <a:solidFill>
            <a:srgbClr val="152238"/>
          </a:solidFill>
          <a:ln>
            <a:noFill/>
          </a:ln>
        </p:spPr>
        <p:txBody>
          <a:bodyPr rtlCol="0" anchor="ctr"/>
          <a:lstStyle/>
          <a:p>
            <a:pPr algn="ctr"/>
          </a:p>
        </p:txBody>
      </p:sp>
      <p:sp>
        <p:nvSpPr>
          <p:cNvPr id="30" name="TextBox 29"/>
          <p:cNvSpPr txBox="1"/>
          <p:nvPr/>
        </p:nvSpPr>
        <p:spPr>
          <a:xfrm>
            <a:off x="9089136" y="2660904"/>
            <a:ext cx="2505456" cy="246888"/>
          </a:xfrm>
          <a:prstGeom prst="rect">
            <a:avLst/>
          </a:prstGeom>
          <a:noFill/>
        </p:spPr>
        <p:txBody>
          <a:bodyPr wrap="square" lIns="0" rIns="0" tIns="0" bIns="0" anchor="t">
            <a:noAutofit/>
          </a:bodyPr>
          <a:lstStyle/>
          <a:p>
            <a:pPr algn="ctr">
              <a:lnSpc>
                <a:spcPct val="100000"/>
              </a:lnSpc>
            </a:pPr>
            <a:r>
              <a:rPr sz="1200" b="1" i="0">
                <a:solidFill>
                  <a:srgbClr val="F4F6FF"/>
                </a:solidFill>
                <a:latin typeface="Segoe UI"/>
              </a:rPr>
              <a:t>Refund</a:t>
            </a:r>
          </a:p>
        </p:txBody>
      </p:sp>
      <p:sp>
        <p:nvSpPr>
          <p:cNvPr id="31" name="TextBox 30"/>
          <p:cNvSpPr txBox="1"/>
          <p:nvPr/>
        </p:nvSpPr>
        <p:spPr>
          <a:xfrm>
            <a:off x="9089136" y="2889504"/>
            <a:ext cx="2505456" cy="201168"/>
          </a:xfrm>
          <a:prstGeom prst="rect">
            <a:avLst/>
          </a:prstGeom>
          <a:noFill/>
        </p:spPr>
        <p:txBody>
          <a:bodyPr wrap="square" lIns="0" rIns="0" tIns="0" bIns="0" anchor="t">
            <a:noAutofit/>
          </a:bodyPr>
          <a:lstStyle/>
          <a:p>
            <a:pPr algn="ctr">
              <a:lnSpc>
                <a:spcPct val="100000"/>
              </a:lnSpc>
            </a:pPr>
            <a:r>
              <a:rPr sz="950" b="0" i="0">
                <a:solidFill>
                  <a:srgbClr val="6F7A9A"/>
                </a:solidFill>
                <a:latin typeface="Segoe UI"/>
              </a:rPr>
              <a:t>to payer  /  to payee</a:t>
            </a:r>
          </a:p>
        </p:txBody>
      </p:sp>
      <p:cxnSp>
        <p:nvCxnSpPr>
          <p:cNvPr id="32" name="Connector 31"/>
          <p:cNvCxnSpPr/>
          <p:nvPr/>
        </p:nvCxnSpPr>
        <p:spPr>
          <a:xfrm>
            <a:off x="777240" y="3118104"/>
            <a:ext cx="10680192" cy="0"/>
          </a:xfrm>
          <a:prstGeom prst="line">
            <a:avLst/>
          </a:prstGeom>
          <a:ln w="9525">
            <a:solidFill>
              <a:srgbClr val="1E2846"/>
            </a:solidFill>
          </a:ln>
        </p:spPr>
      </p:cxnSp>
      <p:sp>
        <p:nvSpPr>
          <p:cNvPr id="33" name="TextBox 32"/>
          <p:cNvSpPr txBox="1"/>
          <p:nvPr/>
        </p:nvSpPr>
        <p:spPr>
          <a:xfrm>
            <a:off x="868680" y="3118104"/>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Completed</a:t>
            </a:r>
          </a:p>
        </p:txBody>
      </p:sp>
      <p:sp>
        <p:nvSpPr>
          <p:cNvPr id="34" name="TextBox 33"/>
          <p:cNvSpPr txBox="1"/>
          <p:nvPr/>
        </p:nvSpPr>
        <p:spPr>
          <a:xfrm>
            <a:off x="3337560" y="3118104"/>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Both confirmed (ToPayee · ToPayer)</a:t>
            </a:r>
          </a:p>
        </p:txBody>
      </p:sp>
      <p:sp>
        <p:nvSpPr>
          <p:cNvPr id="35" name="TextBox 34"/>
          <p:cNvSpPr txBox="1"/>
          <p:nvPr/>
        </p:nvSpPr>
        <p:spPr>
          <a:xfrm>
            <a:off x="6583680" y="3118104"/>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0 / P  ·  D / S</a:t>
            </a:r>
          </a:p>
        </p:txBody>
      </p:sp>
      <p:sp>
        <p:nvSpPr>
          <p:cNvPr id="36" name="TextBox 35"/>
          <p:cNvSpPr txBox="1"/>
          <p:nvPr/>
        </p:nvSpPr>
        <p:spPr>
          <a:xfrm>
            <a:off x="9089136" y="3118104"/>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0 / P  ·  D / S</a:t>
            </a:r>
          </a:p>
        </p:txBody>
      </p:sp>
      <p:cxnSp>
        <p:nvCxnSpPr>
          <p:cNvPr id="37" name="Connector 36"/>
          <p:cNvCxnSpPr/>
          <p:nvPr/>
        </p:nvCxnSpPr>
        <p:spPr>
          <a:xfrm>
            <a:off x="777240" y="3511296"/>
            <a:ext cx="10680192" cy="0"/>
          </a:xfrm>
          <a:prstGeom prst="line">
            <a:avLst/>
          </a:prstGeom>
          <a:ln w="9525">
            <a:solidFill>
              <a:srgbClr val="1E2846"/>
            </a:solidFill>
          </a:ln>
        </p:spPr>
      </p:cxnSp>
      <p:sp>
        <p:nvSpPr>
          <p:cNvPr id="38" name="TextBox 37"/>
          <p:cNvSpPr txBox="1"/>
          <p:nvPr/>
        </p:nvSpPr>
        <p:spPr>
          <a:xfrm>
            <a:off x="868680" y="3511296"/>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PayerWithdrew / NoShow</a:t>
            </a:r>
          </a:p>
        </p:txBody>
      </p:sp>
      <p:sp>
        <p:nvSpPr>
          <p:cNvPr id="39" name="TextBox 38"/>
          <p:cNvSpPr txBox="1"/>
          <p:nvPr/>
        </p:nvSpPr>
        <p:spPr>
          <a:xfrm>
            <a:off x="3337560" y="3511296"/>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Payer backed out, or only payee confirmed</a:t>
            </a:r>
          </a:p>
        </p:txBody>
      </p:sp>
      <p:sp>
        <p:nvSpPr>
          <p:cNvPr id="40" name="TextBox 39"/>
          <p:cNvSpPr txBox="1"/>
          <p:nvPr/>
        </p:nvSpPr>
        <p:spPr>
          <a:xfrm>
            <a:off x="6583680" y="3511296"/>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0 / P</a:t>
            </a:r>
          </a:p>
        </p:txBody>
      </p:sp>
      <p:sp>
        <p:nvSpPr>
          <p:cNvPr id="41" name="TextBox 40"/>
          <p:cNvSpPr txBox="1"/>
          <p:nvPr/>
        </p:nvSpPr>
        <p:spPr>
          <a:xfrm>
            <a:off x="9089136" y="3511296"/>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cxnSp>
        <p:nvCxnSpPr>
          <p:cNvPr id="42" name="Connector 41"/>
          <p:cNvCxnSpPr/>
          <p:nvPr/>
        </p:nvCxnSpPr>
        <p:spPr>
          <a:xfrm>
            <a:off x="777240" y="3904488"/>
            <a:ext cx="10680192" cy="0"/>
          </a:xfrm>
          <a:prstGeom prst="line">
            <a:avLst/>
          </a:prstGeom>
          <a:ln w="9525">
            <a:solidFill>
              <a:srgbClr val="1E2846"/>
            </a:solidFill>
          </a:ln>
        </p:spPr>
      </p:cxnSp>
      <p:sp>
        <p:nvSpPr>
          <p:cNvPr id="43" name="TextBox 42"/>
          <p:cNvSpPr txBox="1"/>
          <p:nvPr/>
        </p:nvSpPr>
        <p:spPr>
          <a:xfrm>
            <a:off x="868680" y="3904488"/>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PayeeWithdrew / NoShow</a:t>
            </a:r>
          </a:p>
        </p:txBody>
      </p:sp>
      <p:sp>
        <p:nvSpPr>
          <p:cNvPr id="44" name="TextBox 43"/>
          <p:cNvSpPr txBox="1"/>
          <p:nvPr/>
        </p:nvSpPr>
        <p:spPr>
          <a:xfrm>
            <a:off x="3337560" y="3904488"/>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Payee backed out, or only payer confirmed</a:t>
            </a:r>
          </a:p>
        </p:txBody>
      </p:sp>
      <p:sp>
        <p:nvSpPr>
          <p:cNvPr id="45" name="Rounded Rectangle 44"/>
          <p:cNvSpPr/>
          <p:nvPr/>
        </p:nvSpPr>
        <p:spPr>
          <a:xfrm>
            <a:off x="6693408" y="3950208"/>
            <a:ext cx="2286000" cy="301751"/>
          </a:xfrm>
          <a:prstGeom prst="roundRect">
            <a:avLst>
              <a:gd name="adj" fmla="val 24242"/>
            </a:avLst>
          </a:prstGeom>
          <a:gradFill rotWithShape="1">
            <a:gsLst>
              <a:gs pos="0">
                <a:srgbClr val="9945FF"/>
              </a:gs>
              <a:gs pos="100000">
                <a:srgbClr val="14F195"/>
              </a:gs>
            </a:gsLst>
            <a:lin ang="0" scaled="0"/>
          </a:gradFill>
          <a:ln>
            <a:noFill/>
          </a:ln>
        </p:spPr>
        <p:txBody>
          <a:bodyPr rtlCol="0" anchor="ctr"/>
          <a:lstStyle/>
          <a:p>
            <a:pPr algn="ctr"/>
          </a:p>
        </p:txBody>
      </p:sp>
      <p:sp>
        <p:nvSpPr>
          <p:cNvPr id="46" name="TextBox 45"/>
          <p:cNvSpPr txBox="1"/>
          <p:nvPr/>
        </p:nvSpPr>
        <p:spPr>
          <a:xfrm>
            <a:off x="6583680" y="3904488"/>
            <a:ext cx="2505456" cy="393192"/>
          </a:xfrm>
          <a:prstGeom prst="rect">
            <a:avLst/>
          </a:prstGeom>
          <a:noFill/>
        </p:spPr>
        <p:txBody>
          <a:bodyPr wrap="square" lIns="0" rIns="0" tIns="0" bIns="0" anchor="ctr">
            <a:noAutofit/>
          </a:bodyPr>
          <a:lstStyle/>
          <a:p>
            <a:pPr algn="ctr">
              <a:lnSpc>
                <a:spcPct val="100000"/>
              </a:lnSpc>
            </a:pPr>
            <a:r>
              <a:rPr sz="1350" b="1" i="0">
                <a:solidFill>
                  <a:srgbClr val="0A0F22"/>
                </a:solidFill>
                <a:latin typeface="Segoe UI"/>
              </a:rPr>
              <a:t>P / 0</a:t>
            </a:r>
            <a:r>
              <a:rPr sz="1050" b="1" i="0">
                <a:solidFill>
                  <a:srgbClr val="0A0F22"/>
                </a:solidFill>
                <a:latin typeface="Segoe UI"/>
              </a:rPr>
              <a:t>   2× for zadatek</a:t>
            </a:r>
          </a:p>
        </p:txBody>
      </p:sp>
      <p:sp>
        <p:nvSpPr>
          <p:cNvPr id="47" name="TextBox 46"/>
          <p:cNvSpPr txBox="1"/>
          <p:nvPr/>
        </p:nvSpPr>
        <p:spPr>
          <a:xfrm>
            <a:off x="9089136" y="3904488"/>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cxnSp>
        <p:nvCxnSpPr>
          <p:cNvPr id="48" name="Connector 47"/>
          <p:cNvCxnSpPr/>
          <p:nvPr/>
        </p:nvCxnSpPr>
        <p:spPr>
          <a:xfrm>
            <a:off x="777240" y="4297680"/>
            <a:ext cx="10680192" cy="0"/>
          </a:xfrm>
          <a:prstGeom prst="line">
            <a:avLst/>
          </a:prstGeom>
          <a:ln w="9525">
            <a:solidFill>
              <a:srgbClr val="1E2846"/>
            </a:solidFill>
          </a:ln>
        </p:spPr>
      </p:cxnSp>
      <p:sp>
        <p:nvSpPr>
          <p:cNvPr id="49" name="TextBox 48"/>
          <p:cNvSpPr txBox="1"/>
          <p:nvPr/>
        </p:nvSpPr>
        <p:spPr>
          <a:xfrm>
            <a:off x="868680" y="4297680"/>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Expired</a:t>
            </a:r>
          </a:p>
        </p:txBody>
      </p:sp>
      <p:sp>
        <p:nvSpPr>
          <p:cNvPr id="50" name="TextBox 49"/>
          <p:cNvSpPr txBox="1"/>
          <p:nvPr/>
        </p:nvSpPr>
        <p:spPr>
          <a:xfrm>
            <a:off x="3337560" y="4297680"/>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Deadline passed, nobody confirmed</a:t>
            </a:r>
          </a:p>
        </p:txBody>
      </p:sp>
      <p:sp>
        <p:nvSpPr>
          <p:cNvPr id="51" name="TextBox 50"/>
          <p:cNvSpPr txBox="1"/>
          <p:nvPr/>
        </p:nvSpPr>
        <p:spPr>
          <a:xfrm>
            <a:off x="6583680" y="4297680"/>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sp>
        <p:nvSpPr>
          <p:cNvPr id="52" name="TextBox 51"/>
          <p:cNvSpPr txBox="1"/>
          <p:nvPr/>
        </p:nvSpPr>
        <p:spPr>
          <a:xfrm>
            <a:off x="9089136" y="4297680"/>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cxnSp>
        <p:nvCxnSpPr>
          <p:cNvPr id="53" name="Connector 52"/>
          <p:cNvCxnSpPr/>
          <p:nvPr/>
        </p:nvCxnSpPr>
        <p:spPr>
          <a:xfrm>
            <a:off x="777240" y="4690872"/>
            <a:ext cx="10680192" cy="0"/>
          </a:xfrm>
          <a:prstGeom prst="line">
            <a:avLst/>
          </a:prstGeom>
          <a:ln w="9525">
            <a:solidFill>
              <a:srgbClr val="1E2846"/>
            </a:solidFill>
          </a:ln>
        </p:spPr>
      </p:cxnSp>
      <p:sp>
        <p:nvSpPr>
          <p:cNvPr id="54" name="TextBox 53"/>
          <p:cNvSpPr txBox="1"/>
          <p:nvPr/>
        </p:nvSpPr>
        <p:spPr>
          <a:xfrm>
            <a:off x="868680" y="4690872"/>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Resolved</a:t>
            </a:r>
          </a:p>
        </p:txBody>
      </p:sp>
      <p:sp>
        <p:nvSpPr>
          <p:cNvPr id="55" name="TextBox 54"/>
          <p:cNvSpPr txBox="1"/>
          <p:nvPr/>
        </p:nvSpPr>
        <p:spPr>
          <a:xfrm>
            <a:off x="3337560" y="4690872"/>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Optional arbiter splits by payer_bps</a:t>
            </a:r>
          </a:p>
        </p:txBody>
      </p:sp>
      <p:sp>
        <p:nvSpPr>
          <p:cNvPr id="56" name="TextBox 55"/>
          <p:cNvSpPr txBox="1"/>
          <p:nvPr/>
        </p:nvSpPr>
        <p:spPr>
          <a:xfrm>
            <a:off x="6583680" y="4690872"/>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bps split</a:t>
            </a:r>
          </a:p>
        </p:txBody>
      </p:sp>
      <p:sp>
        <p:nvSpPr>
          <p:cNvPr id="57" name="TextBox 56"/>
          <p:cNvSpPr txBox="1"/>
          <p:nvPr/>
        </p:nvSpPr>
        <p:spPr>
          <a:xfrm>
            <a:off x="9089136" y="4690872"/>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bps split</a:t>
            </a:r>
          </a:p>
        </p:txBody>
      </p:sp>
      <p:cxnSp>
        <p:nvCxnSpPr>
          <p:cNvPr id="58" name="Connector 57"/>
          <p:cNvCxnSpPr/>
          <p:nvPr/>
        </p:nvCxnSpPr>
        <p:spPr>
          <a:xfrm>
            <a:off x="777240" y="5084064"/>
            <a:ext cx="10680192" cy="0"/>
          </a:xfrm>
          <a:prstGeom prst="line">
            <a:avLst/>
          </a:prstGeom>
          <a:ln w="9525">
            <a:solidFill>
              <a:srgbClr val="1E2846"/>
            </a:solidFill>
          </a:ln>
        </p:spPr>
      </p:cxnSp>
      <p:sp>
        <p:nvSpPr>
          <p:cNvPr id="59" name="TextBox 58"/>
          <p:cNvSpPr txBox="1"/>
          <p:nvPr/>
        </p:nvSpPr>
        <p:spPr>
          <a:xfrm>
            <a:off x="868680" y="5084064"/>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DisputeTimeout</a:t>
            </a:r>
          </a:p>
        </p:txBody>
      </p:sp>
      <p:sp>
        <p:nvSpPr>
          <p:cNvPr id="60" name="TextBox 59"/>
          <p:cNvSpPr txBox="1"/>
          <p:nvPr/>
        </p:nvSpPr>
        <p:spPr>
          <a:xfrm>
            <a:off x="3337560" y="5084064"/>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Arbiter missed the deadline</a:t>
            </a:r>
          </a:p>
        </p:txBody>
      </p:sp>
      <p:sp>
        <p:nvSpPr>
          <p:cNvPr id="61" name="TextBox 60"/>
          <p:cNvSpPr txBox="1"/>
          <p:nvPr/>
        </p:nvSpPr>
        <p:spPr>
          <a:xfrm>
            <a:off x="6583680" y="5084064"/>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sp>
        <p:nvSpPr>
          <p:cNvPr id="62" name="TextBox 61"/>
          <p:cNvSpPr txBox="1"/>
          <p:nvPr/>
        </p:nvSpPr>
        <p:spPr>
          <a:xfrm>
            <a:off x="9089136" y="5084064"/>
            <a:ext cx="2505456" cy="393192"/>
          </a:xfrm>
          <a:prstGeom prst="rect">
            <a:avLst/>
          </a:prstGeom>
          <a:noFill/>
        </p:spPr>
        <p:txBody>
          <a:bodyPr wrap="square" lIns="0" rIns="0" tIns="0" bIns="0" anchor="ctr">
            <a:noAutofit/>
          </a:bodyPr>
          <a:lstStyle/>
          <a:p>
            <a:pPr algn="ctr">
              <a:lnSpc>
                <a:spcPct val="100000"/>
              </a:lnSpc>
            </a:pPr>
            <a:r>
              <a:rPr sz="1350" b="1" i="0">
                <a:solidFill>
                  <a:srgbClr val="B4BCD6"/>
                </a:solidFill>
                <a:latin typeface="Consolas"/>
              </a:rPr>
              <a:t>D / S</a:t>
            </a:r>
          </a:p>
        </p:txBody>
      </p:sp>
      <p:cxnSp>
        <p:nvCxnSpPr>
          <p:cNvPr id="63" name="Connector 62"/>
          <p:cNvCxnSpPr/>
          <p:nvPr/>
        </p:nvCxnSpPr>
        <p:spPr>
          <a:xfrm>
            <a:off x="777240" y="5477256"/>
            <a:ext cx="10680192" cy="0"/>
          </a:xfrm>
          <a:prstGeom prst="line">
            <a:avLst/>
          </a:prstGeom>
          <a:ln w="9525">
            <a:solidFill>
              <a:srgbClr val="1E2846"/>
            </a:solidFill>
          </a:ln>
        </p:spPr>
      </p:cxnSp>
      <p:sp>
        <p:nvSpPr>
          <p:cNvPr id="64" name="TextBox 63"/>
          <p:cNvSpPr txBox="1"/>
          <p:nvPr/>
        </p:nvSpPr>
        <p:spPr>
          <a:xfrm>
            <a:off x="868680" y="5477256"/>
            <a:ext cx="2423160" cy="393192"/>
          </a:xfrm>
          <a:prstGeom prst="rect">
            <a:avLst/>
          </a:prstGeom>
          <a:noFill/>
        </p:spPr>
        <p:txBody>
          <a:bodyPr wrap="square" lIns="0" rIns="0" tIns="0" bIns="0" anchor="ctr">
            <a:noAutofit/>
          </a:bodyPr>
          <a:lstStyle/>
          <a:p>
            <a:pPr algn="l">
              <a:lnSpc>
                <a:spcPct val="100000"/>
              </a:lnSpc>
            </a:pPr>
            <a:r>
              <a:rPr sz="1250" b="1" i="0">
                <a:solidFill>
                  <a:srgbClr val="F4F6FF"/>
                </a:solidFill>
                <a:latin typeface="Segoe UI"/>
              </a:rPr>
              <a:t>Cancelled</a:t>
            </a:r>
          </a:p>
        </p:txBody>
      </p:sp>
      <p:sp>
        <p:nvSpPr>
          <p:cNvPr id="65" name="TextBox 64"/>
          <p:cNvSpPr txBox="1"/>
          <p:nvPr/>
        </p:nvSpPr>
        <p:spPr>
          <a:xfrm>
            <a:off x="3337560" y="5477256"/>
            <a:ext cx="3108960" cy="393192"/>
          </a:xfrm>
          <a:prstGeom prst="rect">
            <a:avLst/>
          </a:prstGeom>
          <a:noFill/>
        </p:spPr>
        <p:txBody>
          <a:bodyPr wrap="square" lIns="0" rIns="0" tIns="0" bIns="0" anchor="ctr">
            <a:noAutofit/>
          </a:bodyPr>
          <a:lstStyle/>
          <a:p>
            <a:pPr algn="l">
              <a:lnSpc>
                <a:spcPct val="100000"/>
              </a:lnSpc>
            </a:pPr>
            <a:r>
              <a:rPr sz="1100" b="0" i="0">
                <a:solidFill>
                  <a:srgbClr val="B4BCD6"/>
                </a:solidFill>
                <a:latin typeface="Segoe UI"/>
              </a:rPr>
              <a:t>No payer reserved the offer</a:t>
            </a:r>
          </a:p>
        </p:txBody>
      </p:sp>
      <p:sp>
        <p:nvSpPr>
          <p:cNvPr id="66" name="TextBox 65"/>
          <p:cNvSpPr txBox="1"/>
          <p:nvPr/>
        </p:nvSpPr>
        <p:spPr>
          <a:xfrm>
            <a:off x="6583680" y="5477256"/>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 / S</a:t>
            </a:r>
          </a:p>
        </p:txBody>
      </p:sp>
      <p:sp>
        <p:nvSpPr>
          <p:cNvPr id="67" name="TextBox 66"/>
          <p:cNvSpPr txBox="1"/>
          <p:nvPr/>
        </p:nvSpPr>
        <p:spPr>
          <a:xfrm>
            <a:off x="9089136" y="5477256"/>
            <a:ext cx="2505456" cy="393192"/>
          </a:xfrm>
          <a:prstGeom prst="rect">
            <a:avLst/>
          </a:prstGeom>
          <a:noFill/>
        </p:spPr>
        <p:txBody>
          <a:bodyPr wrap="square" lIns="0" rIns="0" tIns="0" bIns="0" anchor="ctr">
            <a:noAutofit/>
          </a:bodyPr>
          <a:lstStyle/>
          <a:p>
            <a:pPr algn="ctr">
              <a:lnSpc>
                <a:spcPct val="100000"/>
              </a:lnSpc>
            </a:pPr>
            <a:r>
              <a:rPr sz="1350" b="1" i="0">
                <a:solidFill>
                  <a:srgbClr val="F4F6FF"/>
                </a:solidFill>
                <a:latin typeface="Consolas"/>
              </a:rPr>
              <a:t>— / S</a:t>
            </a:r>
          </a:p>
        </p:txBody>
      </p:sp>
      <p:sp>
        <p:nvSpPr>
          <p:cNvPr id="68" name="TextBox 67"/>
          <p:cNvSpPr txBox="1"/>
          <p:nvPr/>
        </p:nvSpPr>
        <p:spPr>
          <a:xfrm>
            <a:off x="640080" y="5989320"/>
            <a:ext cx="10954512" cy="274320"/>
          </a:xfrm>
          <a:prstGeom prst="rect">
            <a:avLst/>
          </a:prstGeom>
          <a:noFill/>
        </p:spPr>
        <p:txBody>
          <a:bodyPr wrap="square" lIns="0" rIns="0" tIns="0" bIns="0" anchor="t">
            <a:noAutofit/>
          </a:bodyPr>
          <a:lstStyle/>
          <a:p>
            <a:pPr algn="l">
              <a:lnSpc>
                <a:spcPct val="100000"/>
              </a:lnSpc>
            </a:pPr>
            <a:r>
              <a:rPr sz="1050" b="1" i="0">
                <a:solidFill>
                  <a:srgbClr val="14F195"/>
                </a:solidFill>
                <a:latin typeface="Segoe UI"/>
              </a:rPr>
              <a:t>D</a:t>
            </a:r>
            <a:r>
              <a:rPr sz="1050" b="0" i="0">
                <a:solidFill>
                  <a:srgbClr val="B4BCD6"/>
                </a:solidFill>
                <a:latin typeface="Segoe UI"/>
              </a:rPr>
              <a:t> = payer amount · </a:t>
            </a:r>
            <a:r>
              <a:rPr sz="1050" b="1" i="0">
                <a:solidFill>
                  <a:srgbClr val="8B5CF6"/>
                </a:solidFill>
                <a:latin typeface="Segoe UI"/>
              </a:rPr>
              <a:t>S</a:t>
            </a:r>
            <a:r>
              <a:rPr sz="1050" b="0" i="0">
                <a:solidFill>
                  <a:srgbClr val="B4BCD6"/>
                </a:solidFill>
                <a:latin typeface="Segoe UI"/>
              </a:rPr>
              <a:t> = payee stake · </a:t>
            </a:r>
            <a:r>
              <a:rPr sz="1050" b="1" i="0">
                <a:solidFill>
                  <a:srgbClr val="B4BCD6"/>
                </a:solidFill>
                <a:latin typeface="Segoe UI"/>
              </a:rPr>
              <a:t>P</a:t>
            </a:r>
            <a:r>
              <a:rPr sz="1050" b="0" i="0">
                <a:solidFill>
                  <a:srgbClr val="B4BCD6"/>
                </a:solidFill>
                <a:latin typeface="Segoe UI"/>
              </a:rPr>
              <a:t> = D + S · payouts always sum to P · label Zadatek enforces Forfeit + ToPayee + S = D; Zaliczka enforces Refund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07  ·  IMPLEMENTATION POTENTIAL</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One component. Every marketplace, every sector.</a:t>
            </a:r>
          </a:p>
        </p:txBody>
      </p:sp>
      <p:sp>
        <p:nvSpPr>
          <p:cNvPr id="5" name="TextBox 4"/>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6" name="TextBox 5"/>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07 / 10</a:t>
            </a:r>
          </a:p>
        </p:txBody>
      </p:sp>
      <p:sp>
        <p:nvSpPr>
          <p:cNvPr id="7" name="TextBox 6"/>
          <p:cNvSpPr txBox="1"/>
          <p:nvPr/>
        </p:nvSpPr>
        <p:spPr>
          <a:xfrm>
            <a:off x="640080" y="1600200"/>
            <a:ext cx="5486400" cy="320040"/>
          </a:xfrm>
          <a:prstGeom prst="rect">
            <a:avLst/>
          </a:prstGeom>
          <a:noFill/>
        </p:spPr>
        <p:txBody>
          <a:bodyPr wrap="square" lIns="0" rIns="0" tIns="0" bIns="0" anchor="t">
            <a:noAutofit/>
          </a:bodyPr>
          <a:lstStyle/>
          <a:p>
            <a:pPr algn="l">
              <a:lnSpc>
                <a:spcPct val="100000"/>
              </a:lnSpc>
            </a:pPr>
            <a:r>
              <a:rPr sz="1600" b="1" i="0">
                <a:solidFill>
                  <a:srgbClr val="14F195"/>
                </a:solidFill>
                <a:latin typeface="Segoe UI"/>
              </a:rPr>
              <a:t>1  </a:t>
            </a:r>
            <a:r>
              <a:rPr sz="1600" b="1" i="0">
                <a:solidFill>
                  <a:srgbClr val="F4F6FF"/>
                </a:solidFill>
                <a:latin typeface="Segoe UI"/>
              </a:rPr>
              <a:t>Drop-in widget</a:t>
            </a:r>
          </a:p>
        </p:txBody>
      </p:sp>
      <p:sp>
        <p:nvSpPr>
          <p:cNvPr id="8" name="Rounded Rectangle 7"/>
          <p:cNvSpPr/>
          <p:nvPr/>
        </p:nvSpPr>
        <p:spPr>
          <a:xfrm>
            <a:off x="640080" y="1993392"/>
            <a:ext cx="5623560" cy="1371600"/>
          </a:xfrm>
          <a:prstGeom prst="roundRect">
            <a:avLst>
              <a:gd name="adj" fmla="val 8000"/>
            </a:avLst>
          </a:prstGeom>
          <a:solidFill>
            <a:srgbClr val="060914"/>
          </a:solidFill>
          <a:ln w="12700">
            <a:solidFill>
              <a:srgbClr val="243055"/>
            </a:solidFill>
          </a:ln>
        </p:spPr>
        <p:txBody>
          <a:bodyPr rtlCol="0" anchor="ctr"/>
          <a:lstStyle/>
          <a:p>
            <a:pPr algn="ctr"/>
          </a:p>
        </p:txBody>
      </p:sp>
      <p:sp>
        <p:nvSpPr>
          <p:cNvPr id="9" name="TextBox 8"/>
          <p:cNvSpPr txBox="1"/>
          <p:nvPr/>
        </p:nvSpPr>
        <p:spPr>
          <a:xfrm>
            <a:off x="868680" y="2157984"/>
            <a:ext cx="5303520" cy="1188720"/>
          </a:xfrm>
          <a:prstGeom prst="rect">
            <a:avLst/>
          </a:prstGeom>
          <a:noFill/>
        </p:spPr>
        <p:txBody>
          <a:bodyPr wrap="square" lIns="0" rIns="0" tIns="0" bIns="0" anchor="t">
            <a:noAutofit/>
          </a:bodyPr>
          <a:lstStyle/>
          <a:p>
            <a:pPr algn="l">
              <a:lnSpc>
                <a:spcPct val="100000"/>
              </a:lnSpc>
            </a:pPr>
            <a:r>
              <a:rPr sz="1250" b="0" i="0">
                <a:solidFill>
                  <a:srgbClr val="8A93B2"/>
                </a:solidFill>
                <a:latin typeface="Consolas"/>
              </a:rPr>
              <a:t>&lt;</a:t>
            </a:r>
            <a:r>
              <a:rPr sz="1250" b="0" i="0">
                <a:solidFill>
                  <a:srgbClr val="C792EA"/>
                </a:solidFill>
                <a:latin typeface="Consolas"/>
              </a:rPr>
              <a:t>script </a:t>
            </a:r>
            <a:r>
              <a:rPr sz="1250" b="0" i="0">
                <a:solidFill>
                  <a:srgbClr val="14F195"/>
                </a:solidFill>
                <a:latin typeface="Consolas"/>
              </a:rPr>
              <a:t>src</a:t>
            </a:r>
            <a:r>
              <a:rPr sz="1250" b="0" i="0">
                <a:solidFill>
                  <a:srgbClr val="8A93B2"/>
                </a:solidFill>
                <a:latin typeface="Consolas"/>
              </a:rPr>
              <a:t>=</a:t>
            </a:r>
            <a:r>
              <a:rPr sz="1250" b="0" i="0">
                <a:solidFill>
                  <a:srgbClr val="F4D58D"/>
                </a:solidFill>
                <a:latin typeface="Consolas"/>
              </a:rPr>
              <a:t>"https://&lt;app&gt;/widget.js"</a:t>
            </a:r>
          </a:p>
          <a:p>
            <a:pPr algn="l">
              <a:lnSpc>
                <a:spcPct val="100000"/>
              </a:lnSpc>
            </a:pPr>
            <a:r>
              <a:rPr sz="1250" b="0" i="0">
                <a:solidFill>
                  <a:srgbClr val="14F195"/>
                </a:solidFill>
                <a:latin typeface="Consolas"/>
              </a:rPr>
              <a:t>        data-platform</a:t>
            </a:r>
            <a:r>
              <a:rPr sz="1250" b="0" i="0">
                <a:solidFill>
                  <a:srgbClr val="8A93B2"/>
                </a:solidFill>
                <a:latin typeface="Consolas"/>
              </a:rPr>
              <a:t>=</a:t>
            </a:r>
            <a:r>
              <a:rPr sz="1250" b="0" i="0">
                <a:solidFill>
                  <a:srgbClr val="F4D58D"/>
                </a:solidFill>
                <a:latin typeface="Consolas"/>
              </a:rPr>
              <a:t>"&lt;PLATFORM_PUBKEY&gt;"</a:t>
            </a:r>
          </a:p>
          <a:p>
            <a:pPr algn="l">
              <a:lnSpc>
                <a:spcPct val="100000"/>
              </a:lnSpc>
            </a:pPr>
            <a:r>
              <a:rPr sz="1250" b="0" i="0">
                <a:solidFill>
                  <a:srgbClr val="14F195"/>
                </a:solidFill>
                <a:latin typeface="Consolas"/>
              </a:rPr>
              <a:t>        data-listing-id</a:t>
            </a:r>
            <a:r>
              <a:rPr sz="1250" b="0" i="0">
                <a:solidFill>
                  <a:srgbClr val="8A93B2"/>
                </a:solidFill>
                <a:latin typeface="Consolas"/>
              </a:rPr>
              <a:t>=</a:t>
            </a:r>
            <a:r>
              <a:rPr sz="1250" b="0" i="0">
                <a:solidFill>
                  <a:srgbClr val="F4D58D"/>
                </a:solidFill>
                <a:latin typeface="Consolas"/>
              </a:rPr>
              <a:t>"abc123"</a:t>
            </a:r>
          </a:p>
          <a:p>
            <a:pPr algn="l">
              <a:lnSpc>
                <a:spcPct val="100000"/>
              </a:lnSpc>
            </a:pPr>
            <a:r>
              <a:rPr sz="1250" b="0" i="0">
                <a:solidFill>
                  <a:srgbClr val="14F195"/>
                </a:solidFill>
                <a:latin typeface="Consolas"/>
              </a:rPr>
              <a:t>        data-amount</a:t>
            </a:r>
            <a:r>
              <a:rPr sz="1250" b="0" i="0">
                <a:solidFill>
                  <a:srgbClr val="8A93B2"/>
                </a:solidFill>
                <a:latin typeface="Consolas"/>
              </a:rPr>
              <a:t>=</a:t>
            </a:r>
            <a:r>
              <a:rPr sz="1250" b="0" i="0">
                <a:solidFill>
                  <a:srgbClr val="F4D58D"/>
                </a:solidFill>
                <a:latin typeface="Consolas"/>
              </a:rPr>
              <a:t>"2000"</a:t>
            </a:r>
          </a:p>
          <a:p>
            <a:pPr algn="l">
              <a:lnSpc>
                <a:spcPct val="100000"/>
              </a:lnSpc>
            </a:pPr>
            <a:r>
              <a:rPr sz="1250" b="0" i="0">
                <a:solidFill>
                  <a:srgbClr val="14F195"/>
                </a:solidFill>
                <a:latin typeface="Consolas"/>
              </a:rPr>
              <a:t>        data-template</a:t>
            </a:r>
            <a:r>
              <a:rPr sz="1250" b="0" i="0">
                <a:solidFill>
                  <a:srgbClr val="8A93B2"/>
                </a:solidFill>
                <a:latin typeface="Consolas"/>
              </a:rPr>
              <a:t>=</a:t>
            </a:r>
            <a:r>
              <a:rPr sz="1250" b="0" i="0">
                <a:solidFill>
                  <a:srgbClr val="F4D58D"/>
                </a:solidFill>
                <a:latin typeface="Consolas"/>
              </a:rPr>
              <a:t>"deposit"</a:t>
            </a:r>
            <a:r>
              <a:rPr sz="1250" b="0" i="0">
                <a:solidFill>
                  <a:srgbClr val="8A93B2"/>
                </a:solidFill>
                <a:latin typeface="Consolas"/>
              </a:rPr>
              <a:t>&gt;&lt;/</a:t>
            </a:r>
            <a:r>
              <a:rPr sz="1250" b="0" i="0">
                <a:solidFill>
                  <a:srgbClr val="C792EA"/>
                </a:solidFill>
                <a:latin typeface="Consolas"/>
              </a:rPr>
              <a:t>script</a:t>
            </a:r>
            <a:r>
              <a:rPr sz="1250" b="0" i="0">
                <a:solidFill>
                  <a:srgbClr val="8A93B2"/>
                </a:solidFill>
                <a:latin typeface="Consolas"/>
              </a:rPr>
              <a:t>&gt;</a:t>
            </a:r>
          </a:p>
        </p:txBody>
      </p:sp>
      <p:sp>
        <p:nvSpPr>
          <p:cNvPr id="10" name="TextBox 9"/>
          <p:cNvSpPr txBox="1"/>
          <p:nvPr/>
        </p:nvSpPr>
        <p:spPr>
          <a:xfrm>
            <a:off x="640080" y="3456432"/>
            <a:ext cx="5623560" cy="274320"/>
          </a:xfrm>
          <a:prstGeom prst="rect">
            <a:avLst/>
          </a:prstGeom>
          <a:noFill/>
        </p:spPr>
        <p:txBody>
          <a:bodyPr wrap="square" lIns="0" rIns="0" tIns="0" bIns="0" anchor="t">
            <a:noAutofit/>
          </a:bodyPr>
          <a:lstStyle/>
          <a:p>
            <a:pPr algn="l">
              <a:lnSpc>
                <a:spcPct val="100000"/>
              </a:lnSpc>
            </a:pPr>
            <a:r>
              <a:rPr sz="1100" b="0" i="0">
                <a:solidFill>
                  <a:srgbClr val="14F195"/>
                </a:solidFill>
                <a:latin typeface="Consolas"/>
              </a:rPr>
              <a:t>data-template</a:t>
            </a:r>
            <a:r>
              <a:rPr sz="1100" b="0" i="0">
                <a:solidFill>
                  <a:srgbClr val="B4BCD6"/>
                </a:solidFill>
                <a:latin typeface="Consolas"/>
              </a:rPr>
              <a:t>  =  deposit | rental | freelance | purchase</a:t>
            </a:r>
          </a:p>
        </p:txBody>
      </p:sp>
      <p:sp>
        <p:nvSpPr>
          <p:cNvPr id="11" name="TextBox 10"/>
          <p:cNvSpPr txBox="1"/>
          <p:nvPr/>
        </p:nvSpPr>
        <p:spPr>
          <a:xfrm>
            <a:off x="640080" y="3886200"/>
            <a:ext cx="5486400" cy="320040"/>
          </a:xfrm>
          <a:prstGeom prst="rect">
            <a:avLst/>
          </a:prstGeom>
          <a:noFill/>
        </p:spPr>
        <p:txBody>
          <a:bodyPr wrap="square" lIns="0" rIns="0" tIns="0" bIns="0" anchor="t">
            <a:noAutofit/>
          </a:bodyPr>
          <a:lstStyle/>
          <a:p>
            <a:pPr algn="l">
              <a:lnSpc>
                <a:spcPct val="100000"/>
              </a:lnSpc>
            </a:pPr>
            <a:r>
              <a:rPr sz="1600" b="1" i="0">
                <a:solidFill>
                  <a:srgbClr val="14F195"/>
                </a:solidFill>
                <a:latin typeface="Segoe UI"/>
              </a:rPr>
              <a:t>2  </a:t>
            </a:r>
            <a:r>
              <a:rPr sz="1600" b="1" i="0">
                <a:solidFill>
                  <a:srgbClr val="F4F6FF"/>
                </a:solidFill>
                <a:latin typeface="Segoe UI"/>
              </a:rPr>
              <a:t>TypeScript SDK</a:t>
            </a:r>
          </a:p>
        </p:txBody>
      </p:sp>
      <p:sp>
        <p:nvSpPr>
          <p:cNvPr id="12" name="Rounded Rectangle 11"/>
          <p:cNvSpPr/>
          <p:nvPr/>
        </p:nvSpPr>
        <p:spPr>
          <a:xfrm>
            <a:off x="640080" y="4279392"/>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13" name="TextBox 12"/>
          <p:cNvSpPr txBox="1"/>
          <p:nvPr/>
        </p:nvSpPr>
        <p:spPr>
          <a:xfrm>
            <a:off x="640080" y="4279392"/>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createOffer()</a:t>
            </a:r>
          </a:p>
        </p:txBody>
      </p:sp>
      <p:sp>
        <p:nvSpPr>
          <p:cNvPr id="14" name="Rounded Rectangle 13"/>
          <p:cNvSpPr/>
          <p:nvPr/>
        </p:nvSpPr>
        <p:spPr>
          <a:xfrm>
            <a:off x="2542032" y="4279392"/>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15" name="TextBox 14"/>
          <p:cNvSpPr txBox="1"/>
          <p:nvPr/>
        </p:nvSpPr>
        <p:spPr>
          <a:xfrm>
            <a:off x="2542032" y="4279392"/>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reserve()</a:t>
            </a:r>
          </a:p>
        </p:txBody>
      </p:sp>
      <p:sp>
        <p:nvSpPr>
          <p:cNvPr id="16" name="Rounded Rectangle 15"/>
          <p:cNvSpPr/>
          <p:nvPr/>
        </p:nvSpPr>
        <p:spPr>
          <a:xfrm>
            <a:off x="4443984" y="4279392"/>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17" name="TextBox 16"/>
          <p:cNvSpPr txBox="1"/>
          <p:nvPr/>
        </p:nvSpPr>
        <p:spPr>
          <a:xfrm>
            <a:off x="4443984" y="4279392"/>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confirm()</a:t>
            </a:r>
          </a:p>
        </p:txBody>
      </p:sp>
      <p:sp>
        <p:nvSpPr>
          <p:cNvPr id="18" name="Rounded Rectangle 17"/>
          <p:cNvSpPr/>
          <p:nvPr/>
        </p:nvSpPr>
        <p:spPr>
          <a:xfrm>
            <a:off x="640080" y="4700016"/>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19" name="TextBox 18"/>
          <p:cNvSpPr txBox="1"/>
          <p:nvPr/>
        </p:nvSpPr>
        <p:spPr>
          <a:xfrm>
            <a:off x="640080" y="4700016"/>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withdraw()</a:t>
            </a:r>
          </a:p>
        </p:txBody>
      </p:sp>
      <p:sp>
        <p:nvSpPr>
          <p:cNvPr id="20" name="Rounded Rectangle 19"/>
          <p:cNvSpPr/>
          <p:nvPr/>
        </p:nvSpPr>
        <p:spPr>
          <a:xfrm>
            <a:off x="2542032" y="4700016"/>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21" name="TextBox 20"/>
          <p:cNvSpPr txBox="1"/>
          <p:nvPr/>
        </p:nvSpPr>
        <p:spPr>
          <a:xfrm>
            <a:off x="2542032" y="4700016"/>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claimAfterDeadline()</a:t>
            </a:r>
          </a:p>
        </p:txBody>
      </p:sp>
      <p:sp>
        <p:nvSpPr>
          <p:cNvPr id="22" name="Rounded Rectangle 21"/>
          <p:cNvSpPr/>
          <p:nvPr/>
        </p:nvSpPr>
        <p:spPr>
          <a:xfrm>
            <a:off x="4443984" y="4700016"/>
            <a:ext cx="1783080" cy="338328"/>
          </a:xfrm>
          <a:prstGeom prst="roundRect">
            <a:avLst>
              <a:gd name="adj" fmla="val 21621"/>
            </a:avLst>
          </a:prstGeom>
          <a:solidFill>
            <a:srgbClr val="141C35"/>
          </a:solidFill>
          <a:ln w="12700">
            <a:solidFill>
              <a:srgbClr val="243055"/>
            </a:solidFill>
          </a:ln>
        </p:spPr>
        <p:txBody>
          <a:bodyPr rtlCol="0" anchor="ctr"/>
          <a:lstStyle/>
          <a:p>
            <a:pPr algn="ctr"/>
          </a:p>
        </p:txBody>
      </p:sp>
      <p:sp>
        <p:nvSpPr>
          <p:cNvPr id="23" name="TextBox 22"/>
          <p:cNvSpPr txBox="1"/>
          <p:nvPr/>
        </p:nvSpPr>
        <p:spPr>
          <a:xfrm>
            <a:off x="4443984" y="4700016"/>
            <a:ext cx="1783080" cy="338328"/>
          </a:xfrm>
          <a:prstGeom prst="rect">
            <a:avLst/>
          </a:prstGeom>
          <a:noFill/>
        </p:spPr>
        <p:txBody>
          <a:bodyPr wrap="square" lIns="0" rIns="0" tIns="0" bIns="0" anchor="ctr">
            <a:noAutofit/>
          </a:bodyPr>
          <a:lstStyle/>
          <a:p>
            <a:pPr algn="ctr">
              <a:lnSpc>
                <a:spcPct val="100000"/>
              </a:lnSpc>
            </a:pPr>
            <a:r>
              <a:rPr sz="1100" b="0" i="0">
                <a:solidFill>
                  <a:srgbClr val="F4F6FF"/>
                </a:solidFill>
                <a:latin typeface="Consolas"/>
              </a:rPr>
              <a:t>getProfile()</a:t>
            </a:r>
          </a:p>
        </p:txBody>
      </p:sp>
      <p:sp>
        <p:nvSpPr>
          <p:cNvPr id="24" name="TextBox 23"/>
          <p:cNvSpPr txBox="1"/>
          <p:nvPr/>
        </p:nvSpPr>
        <p:spPr>
          <a:xfrm>
            <a:off x="640080" y="5257800"/>
            <a:ext cx="5486400" cy="320040"/>
          </a:xfrm>
          <a:prstGeom prst="rect">
            <a:avLst/>
          </a:prstGeom>
          <a:noFill/>
        </p:spPr>
        <p:txBody>
          <a:bodyPr wrap="square" lIns="0" rIns="0" tIns="0" bIns="0" anchor="t">
            <a:noAutofit/>
          </a:bodyPr>
          <a:lstStyle/>
          <a:p>
            <a:pPr algn="l">
              <a:lnSpc>
                <a:spcPct val="100000"/>
              </a:lnSpc>
            </a:pPr>
            <a:r>
              <a:rPr sz="1600" b="1" i="0">
                <a:solidFill>
                  <a:srgbClr val="14F195"/>
                </a:solidFill>
                <a:latin typeface="Segoe UI"/>
              </a:rPr>
              <a:t>3  </a:t>
            </a:r>
            <a:r>
              <a:rPr sz="1600" b="1" i="0">
                <a:solidFill>
                  <a:srgbClr val="F4F6FF"/>
                </a:solidFill>
                <a:latin typeface="Segoe UI"/>
              </a:rPr>
              <a:t>Shareable deal link</a:t>
            </a:r>
          </a:p>
        </p:txBody>
      </p:sp>
      <p:sp>
        <p:nvSpPr>
          <p:cNvPr id="25" name="TextBox 24"/>
          <p:cNvSpPr txBox="1"/>
          <p:nvPr/>
        </p:nvSpPr>
        <p:spPr>
          <a:xfrm>
            <a:off x="640080" y="5605272"/>
            <a:ext cx="5669280" cy="457200"/>
          </a:xfrm>
          <a:prstGeom prst="rect">
            <a:avLst/>
          </a:prstGeom>
          <a:noFill/>
        </p:spPr>
        <p:txBody>
          <a:bodyPr wrap="square" lIns="0" rIns="0" tIns="0" bIns="0" anchor="t">
            <a:noAutofit/>
          </a:bodyPr>
          <a:lstStyle/>
          <a:p>
            <a:pPr algn="l">
              <a:lnSpc>
                <a:spcPct val="100000"/>
              </a:lnSpc>
            </a:pPr>
            <a:r>
              <a:rPr sz="1350" b="1" i="0">
                <a:solidFill>
                  <a:srgbClr val="14F195"/>
                </a:solidFill>
                <a:latin typeface="Consolas"/>
              </a:rPr>
              <a:t>/d/&lt;deal&gt;</a:t>
            </a:r>
            <a:r>
              <a:rPr sz="1350" b="0" i="0">
                <a:solidFill>
                  <a:srgbClr val="B4BCD6"/>
                </a:solidFill>
                <a:latin typeface="Segoe UI"/>
              </a:rPr>
              <a:t>  —  send it on WhatsApp; both sides see the same live page.</a:t>
            </a:r>
          </a:p>
        </p:txBody>
      </p:sp>
      <p:sp>
        <p:nvSpPr>
          <p:cNvPr id="26" name="Rounded Rectangle 25"/>
          <p:cNvSpPr/>
          <p:nvPr/>
        </p:nvSpPr>
        <p:spPr>
          <a:xfrm>
            <a:off x="6583680" y="1645920"/>
            <a:ext cx="5010912" cy="3520440"/>
          </a:xfrm>
          <a:prstGeom prst="roundRect">
            <a:avLst>
              <a:gd name="adj" fmla="val 3116"/>
            </a:avLst>
          </a:prstGeom>
          <a:solidFill>
            <a:srgbClr val="0B1022"/>
          </a:solidFill>
          <a:ln w="12700">
            <a:solidFill>
              <a:srgbClr val="243055"/>
            </a:solidFill>
          </a:ln>
        </p:spPr>
        <p:txBody>
          <a:bodyPr rtlCol="0" anchor="ctr"/>
          <a:lstStyle/>
          <a:p>
            <a:pPr algn="ctr"/>
          </a:p>
        </p:txBody>
      </p:sp>
      <p:pic>
        <p:nvPicPr>
          <p:cNvPr id="27" name="Picture 26" descr="widget.png"/>
          <p:cNvPicPr>
            <a:picLocks noChangeAspect="1"/>
          </p:cNvPicPr>
          <p:nvPr/>
        </p:nvPicPr>
        <p:blipFill>
          <a:blip r:embed="rId3"/>
          <a:stretch>
            <a:fillRect/>
          </a:stretch>
        </p:blipFill>
        <p:spPr>
          <a:xfrm>
            <a:off x="7105970" y="1719072"/>
            <a:ext cx="3966331" cy="3374135"/>
          </a:xfrm>
          <a:prstGeom prst="rect">
            <a:avLst/>
          </a:prstGeom>
        </p:spPr>
      </p:pic>
      <p:sp>
        <p:nvSpPr>
          <p:cNvPr id="28" name="Rounded Rectangle 27"/>
          <p:cNvSpPr/>
          <p:nvPr/>
        </p:nvSpPr>
        <p:spPr>
          <a:xfrm>
            <a:off x="6583680" y="5376672"/>
            <a:ext cx="2377440"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29" name="TextBox 28"/>
          <p:cNvSpPr txBox="1"/>
          <p:nvPr/>
        </p:nvSpPr>
        <p:spPr>
          <a:xfrm>
            <a:off x="6583680" y="5376672"/>
            <a:ext cx="2377440" cy="365760"/>
          </a:xfrm>
          <a:prstGeom prst="rect">
            <a:avLst/>
          </a:prstGeom>
          <a:noFill/>
        </p:spPr>
        <p:txBody>
          <a:bodyPr wrap="square" lIns="0" rIns="0" tIns="0" bIns="0" anchor="ctr">
            <a:noAutofit/>
          </a:bodyPr>
          <a:lstStyle/>
          <a:p>
            <a:pPr algn="ctr">
              <a:lnSpc>
                <a:spcPct val="100000"/>
              </a:lnSpc>
            </a:pPr>
            <a:r>
              <a:rPr sz="1100" b="0" i="0">
                <a:solidFill>
                  <a:srgbClr val="F4F6FF"/>
                </a:solidFill>
                <a:latin typeface="Segoe UI"/>
              </a:rPr>
              <a:t>DemoAuto  ·  cars  ·  deposit</a:t>
            </a:r>
          </a:p>
        </p:txBody>
      </p:sp>
      <p:sp>
        <p:nvSpPr>
          <p:cNvPr id="30" name="Rounded Rectangle 29"/>
          <p:cNvSpPr/>
          <p:nvPr/>
        </p:nvSpPr>
        <p:spPr>
          <a:xfrm>
            <a:off x="9098280" y="5376672"/>
            <a:ext cx="2496312"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31" name="TextBox 30"/>
          <p:cNvSpPr txBox="1"/>
          <p:nvPr/>
        </p:nvSpPr>
        <p:spPr>
          <a:xfrm>
            <a:off x="9098280" y="5376672"/>
            <a:ext cx="2496312" cy="365760"/>
          </a:xfrm>
          <a:prstGeom prst="rect">
            <a:avLst/>
          </a:prstGeom>
          <a:noFill/>
        </p:spPr>
        <p:txBody>
          <a:bodyPr wrap="square" lIns="0" rIns="0" tIns="0" bIns="0" anchor="ctr">
            <a:noAutofit/>
          </a:bodyPr>
          <a:lstStyle/>
          <a:p>
            <a:pPr algn="ctr">
              <a:lnSpc>
                <a:spcPct val="100000"/>
              </a:lnSpc>
            </a:pPr>
            <a:r>
              <a:rPr sz="1100" b="0" i="0">
                <a:solidFill>
                  <a:srgbClr val="F4F6FF"/>
                </a:solidFill>
                <a:latin typeface="Segoe UI"/>
              </a:rPr>
              <a:t>DemoRent  ·  cameras  ·  rental</a:t>
            </a:r>
          </a:p>
        </p:txBody>
      </p:sp>
      <p:sp>
        <p:nvSpPr>
          <p:cNvPr id="32" name="TextBox 31"/>
          <p:cNvSpPr txBox="1"/>
          <p:nvPr/>
        </p:nvSpPr>
        <p:spPr>
          <a:xfrm>
            <a:off x="6583680" y="5833872"/>
            <a:ext cx="5010912" cy="274320"/>
          </a:xfrm>
          <a:prstGeom prst="rect">
            <a:avLst/>
          </a:prstGeom>
          <a:noFill/>
        </p:spPr>
        <p:txBody>
          <a:bodyPr wrap="square" lIns="0" rIns="0" tIns="0" bIns="0" anchor="t">
            <a:noAutofit/>
          </a:bodyPr>
          <a:lstStyle/>
          <a:p>
            <a:pPr algn="ctr">
              <a:lnSpc>
                <a:spcPct val="100000"/>
              </a:lnSpc>
            </a:pPr>
            <a:r>
              <a:rPr sz="1050" b="0" i="1">
                <a:solidFill>
                  <a:srgbClr val="6F7A9A"/>
                </a:solidFill>
                <a:latin typeface="Segoe UI"/>
              </a:rPr>
              <a:t>Fictional demo marketplaces — same widget, same program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08  ·  PRIVACY BY DESIGN</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Money on-chain. People off-chain.</a:t>
            </a:r>
          </a:p>
        </p:txBody>
      </p:sp>
      <p:sp>
        <p:nvSpPr>
          <p:cNvPr id="5" name="TextBox 4"/>
          <p:cNvSpPr txBox="1"/>
          <p:nvPr/>
        </p:nvSpPr>
        <p:spPr>
          <a:xfrm>
            <a:off x="640080" y="1371600"/>
            <a:ext cx="10881360" cy="365760"/>
          </a:xfrm>
          <a:prstGeom prst="rect">
            <a:avLst/>
          </a:prstGeom>
          <a:noFill/>
        </p:spPr>
        <p:txBody>
          <a:bodyPr wrap="square" lIns="0" rIns="0" tIns="0" bIns="0" anchor="t">
            <a:noAutofit/>
          </a:bodyPr>
          <a:lstStyle/>
          <a:p>
            <a:pPr algn="l">
              <a:lnSpc>
                <a:spcPct val="100000"/>
              </a:lnSpc>
            </a:pPr>
            <a:r>
              <a:rPr sz="1500" b="0" i="0">
                <a:solidFill>
                  <a:srgbClr val="B4BCD6"/>
                </a:solidFill>
                <a:latin typeface="Segoe UI"/>
              </a:rPr>
              <a:t>GDPR-friendly by construction: reputation without identity.</a:t>
            </a:r>
          </a:p>
        </p:txBody>
      </p:sp>
      <p:sp>
        <p:nvSpPr>
          <p:cNvPr id="6" name="TextBox 5"/>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7" name="TextBox 6"/>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08 / 10</a:t>
            </a:r>
          </a:p>
        </p:txBody>
      </p:sp>
      <p:sp>
        <p:nvSpPr>
          <p:cNvPr id="8" name="Rounded Rectangle 7"/>
          <p:cNvSpPr/>
          <p:nvPr/>
        </p:nvSpPr>
        <p:spPr>
          <a:xfrm>
            <a:off x="640080" y="1920240"/>
            <a:ext cx="5349240" cy="3383280"/>
          </a:xfrm>
          <a:prstGeom prst="roundRect">
            <a:avLst>
              <a:gd name="adj" fmla="val 4324"/>
            </a:avLst>
          </a:prstGeom>
          <a:solidFill>
            <a:srgbClr val="0D1A26"/>
          </a:solidFill>
          <a:ln w="12700">
            <a:solidFill>
              <a:srgbClr val="1B5B54"/>
            </a:solidFill>
          </a:ln>
        </p:spPr>
        <p:txBody>
          <a:bodyPr rtlCol="0" anchor="ctr"/>
          <a:lstStyle/>
          <a:p>
            <a:pPr algn="ctr"/>
          </a:p>
        </p:txBody>
      </p:sp>
      <p:sp>
        <p:nvSpPr>
          <p:cNvPr id="9" name="TextBox 8"/>
          <p:cNvSpPr txBox="1"/>
          <p:nvPr/>
        </p:nvSpPr>
        <p:spPr>
          <a:xfrm>
            <a:off x="960119" y="2103120"/>
            <a:ext cx="2286000" cy="365760"/>
          </a:xfrm>
          <a:prstGeom prst="rect">
            <a:avLst/>
          </a:prstGeom>
          <a:noFill/>
        </p:spPr>
        <p:txBody>
          <a:bodyPr wrap="square" lIns="0" rIns="0" tIns="0" bIns="0" anchor="ctr">
            <a:noAutofit/>
          </a:bodyPr>
          <a:lstStyle/>
          <a:p>
            <a:pPr algn="l">
              <a:lnSpc>
                <a:spcPct val="100000"/>
              </a:lnSpc>
            </a:pPr>
            <a:r>
              <a:rPr sz="1500" b="1" i="0" spc="200">
                <a:solidFill>
                  <a:srgbClr val="14F195"/>
                </a:solidFill>
                <a:latin typeface="Segoe UI"/>
              </a:rPr>
              <a:t>ON-CHAIN</a:t>
            </a:r>
          </a:p>
        </p:txBody>
      </p:sp>
      <p:sp>
        <p:nvSpPr>
          <p:cNvPr id="10" name="TextBox 9"/>
          <p:cNvSpPr txBox="1"/>
          <p:nvPr/>
        </p:nvSpPr>
        <p:spPr>
          <a:xfrm>
            <a:off x="2651760" y="2103120"/>
            <a:ext cx="3063240" cy="365760"/>
          </a:xfrm>
          <a:prstGeom prst="rect">
            <a:avLst/>
          </a:prstGeom>
          <a:noFill/>
        </p:spPr>
        <p:txBody>
          <a:bodyPr wrap="square" lIns="0" rIns="0" tIns="0" bIns="0" anchor="ctr">
            <a:noAutofit/>
          </a:bodyPr>
          <a:lstStyle/>
          <a:p>
            <a:pPr algn="r">
              <a:lnSpc>
                <a:spcPct val="100000"/>
              </a:lnSpc>
            </a:pPr>
            <a:r>
              <a:rPr sz="1150" b="0" i="0">
                <a:solidFill>
                  <a:srgbClr val="B4BCD6"/>
                </a:solidFill>
                <a:latin typeface="Segoe UI"/>
              </a:rPr>
              <a:t>Solana · public · permanent</a:t>
            </a:r>
          </a:p>
        </p:txBody>
      </p:sp>
      <p:sp>
        <p:nvSpPr>
          <p:cNvPr id="11" name="Rounded Rectangle 10"/>
          <p:cNvSpPr/>
          <p:nvPr/>
        </p:nvSpPr>
        <p:spPr>
          <a:xfrm>
            <a:off x="987552" y="2788920"/>
            <a:ext cx="146304" cy="146304"/>
          </a:xfrm>
          <a:prstGeom prst="roundRect">
            <a:avLst>
              <a:gd name="adj" fmla="val 50000"/>
            </a:avLst>
          </a:prstGeom>
          <a:solidFill>
            <a:srgbClr val="14F195"/>
          </a:solidFill>
          <a:ln>
            <a:noFill/>
          </a:ln>
        </p:spPr>
        <p:txBody>
          <a:bodyPr rtlCol="0" anchor="ctr"/>
          <a:lstStyle/>
          <a:p>
            <a:pPr algn="ctr"/>
          </a:p>
        </p:txBody>
      </p:sp>
      <p:sp>
        <p:nvSpPr>
          <p:cNvPr id="12" name="TextBox 11"/>
          <p:cNvSpPr txBox="1"/>
          <p:nvPr/>
        </p:nvSpPr>
        <p:spPr>
          <a:xfrm>
            <a:off x="1298448" y="2670048"/>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Amounts, deadlines, rule parameters, status</a:t>
            </a:r>
          </a:p>
        </p:txBody>
      </p:sp>
      <p:sp>
        <p:nvSpPr>
          <p:cNvPr id="13" name="Rounded Rectangle 12"/>
          <p:cNvSpPr/>
          <p:nvPr/>
        </p:nvSpPr>
        <p:spPr>
          <a:xfrm>
            <a:off x="987552" y="3300984"/>
            <a:ext cx="146304" cy="146304"/>
          </a:xfrm>
          <a:prstGeom prst="roundRect">
            <a:avLst>
              <a:gd name="adj" fmla="val 50000"/>
            </a:avLst>
          </a:prstGeom>
          <a:solidFill>
            <a:srgbClr val="14F195"/>
          </a:solidFill>
          <a:ln>
            <a:noFill/>
          </a:ln>
        </p:spPr>
        <p:txBody>
          <a:bodyPr rtlCol="0" anchor="ctr"/>
          <a:lstStyle/>
          <a:p>
            <a:pPr algn="ctr"/>
          </a:p>
        </p:txBody>
      </p:sp>
      <p:sp>
        <p:nvSpPr>
          <p:cNvPr id="14" name="TextBox 13"/>
          <p:cNvSpPr txBox="1"/>
          <p:nvPr/>
        </p:nvSpPr>
        <p:spPr>
          <a:xfrm>
            <a:off x="1298448" y="3182112"/>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Pseudonymous wallet addresses</a:t>
            </a:r>
          </a:p>
        </p:txBody>
      </p:sp>
      <p:sp>
        <p:nvSpPr>
          <p:cNvPr id="15" name="Rounded Rectangle 14"/>
          <p:cNvSpPr/>
          <p:nvPr/>
        </p:nvSpPr>
        <p:spPr>
          <a:xfrm>
            <a:off x="987552" y="3813048"/>
            <a:ext cx="146304" cy="146304"/>
          </a:xfrm>
          <a:prstGeom prst="roundRect">
            <a:avLst>
              <a:gd name="adj" fmla="val 50000"/>
            </a:avLst>
          </a:prstGeom>
          <a:solidFill>
            <a:srgbClr val="14F195"/>
          </a:solidFill>
          <a:ln>
            <a:noFill/>
          </a:ln>
        </p:spPr>
        <p:txBody>
          <a:bodyPr rtlCol="0" anchor="ctr"/>
          <a:lstStyle/>
          <a:p>
            <a:pPr algn="ctr"/>
          </a:p>
        </p:txBody>
      </p:sp>
      <p:sp>
        <p:nvSpPr>
          <p:cNvPr id="16" name="TextBox 15"/>
          <p:cNvSpPr txBox="1"/>
          <p:nvPr/>
        </p:nvSpPr>
        <p:spPr>
          <a:xfrm>
            <a:off x="1298448" y="3694176"/>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Salted SHA-256 hashes of listing &amp; evidence</a:t>
            </a:r>
          </a:p>
        </p:txBody>
      </p:sp>
      <p:sp>
        <p:nvSpPr>
          <p:cNvPr id="17" name="Rounded Rectangle 16"/>
          <p:cNvSpPr/>
          <p:nvPr/>
        </p:nvSpPr>
        <p:spPr>
          <a:xfrm>
            <a:off x="987552" y="4325112"/>
            <a:ext cx="146304" cy="146304"/>
          </a:xfrm>
          <a:prstGeom prst="roundRect">
            <a:avLst>
              <a:gd name="adj" fmla="val 50000"/>
            </a:avLst>
          </a:prstGeom>
          <a:solidFill>
            <a:srgbClr val="14F195"/>
          </a:solidFill>
          <a:ln>
            <a:noFill/>
          </a:ln>
        </p:spPr>
        <p:txBody>
          <a:bodyPr rtlCol="0" anchor="ctr"/>
          <a:lstStyle/>
          <a:p>
            <a:pPr algn="ctr"/>
          </a:p>
        </p:txBody>
      </p:sp>
      <p:sp>
        <p:nvSpPr>
          <p:cNvPr id="18" name="TextBox 17"/>
          <p:cNvSpPr txBox="1"/>
          <p:nvPr/>
        </p:nvSpPr>
        <p:spPr>
          <a:xfrm>
            <a:off x="1298448" y="4206240"/>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Behaviour counters per wallet  (Profile)</a:t>
            </a:r>
          </a:p>
        </p:txBody>
      </p:sp>
      <p:sp>
        <p:nvSpPr>
          <p:cNvPr id="19" name="Rounded Rectangle 18"/>
          <p:cNvSpPr/>
          <p:nvPr/>
        </p:nvSpPr>
        <p:spPr>
          <a:xfrm>
            <a:off x="987552" y="4837176"/>
            <a:ext cx="146304" cy="146304"/>
          </a:xfrm>
          <a:prstGeom prst="roundRect">
            <a:avLst>
              <a:gd name="adj" fmla="val 50000"/>
            </a:avLst>
          </a:prstGeom>
          <a:solidFill>
            <a:srgbClr val="14F195"/>
          </a:solidFill>
          <a:ln>
            <a:noFill/>
          </a:ln>
        </p:spPr>
        <p:txBody>
          <a:bodyPr rtlCol="0" anchor="ctr"/>
          <a:lstStyle/>
          <a:p>
            <a:pPr algn="ctr"/>
          </a:p>
        </p:txBody>
      </p:sp>
      <p:sp>
        <p:nvSpPr>
          <p:cNvPr id="20" name="TextBox 19"/>
          <p:cNvSpPr txBox="1"/>
          <p:nvPr/>
        </p:nvSpPr>
        <p:spPr>
          <a:xfrm>
            <a:off x="1298448" y="4718304"/>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Anonymous platform aggregates  (PlatformStats)</a:t>
            </a:r>
          </a:p>
        </p:txBody>
      </p:sp>
      <p:sp>
        <p:nvSpPr>
          <p:cNvPr id="21" name="Rounded Rectangle 20"/>
          <p:cNvSpPr/>
          <p:nvPr/>
        </p:nvSpPr>
        <p:spPr>
          <a:xfrm>
            <a:off x="6245352" y="1920240"/>
            <a:ext cx="5349240" cy="3383280"/>
          </a:xfrm>
          <a:prstGeom prst="roundRect">
            <a:avLst>
              <a:gd name="adj" fmla="val 4324"/>
            </a:avLst>
          </a:prstGeom>
          <a:solidFill>
            <a:srgbClr val="141333"/>
          </a:solidFill>
          <a:ln w="12700">
            <a:solidFill>
              <a:srgbClr val="3F2F7A"/>
            </a:solidFill>
          </a:ln>
        </p:spPr>
        <p:txBody>
          <a:bodyPr rtlCol="0" anchor="ctr"/>
          <a:lstStyle/>
          <a:p>
            <a:pPr algn="ctr"/>
          </a:p>
        </p:txBody>
      </p:sp>
      <p:sp>
        <p:nvSpPr>
          <p:cNvPr id="22" name="TextBox 21"/>
          <p:cNvSpPr txBox="1"/>
          <p:nvPr/>
        </p:nvSpPr>
        <p:spPr>
          <a:xfrm>
            <a:off x="6565392" y="2103120"/>
            <a:ext cx="2286000" cy="365760"/>
          </a:xfrm>
          <a:prstGeom prst="rect">
            <a:avLst/>
          </a:prstGeom>
          <a:noFill/>
        </p:spPr>
        <p:txBody>
          <a:bodyPr wrap="square" lIns="0" rIns="0" tIns="0" bIns="0" anchor="ctr">
            <a:noAutofit/>
          </a:bodyPr>
          <a:lstStyle/>
          <a:p>
            <a:pPr algn="l">
              <a:lnSpc>
                <a:spcPct val="100000"/>
              </a:lnSpc>
            </a:pPr>
            <a:r>
              <a:rPr sz="1500" b="1" i="0" spc="200">
                <a:solidFill>
                  <a:srgbClr val="8B5CF6"/>
                </a:solidFill>
                <a:latin typeface="Segoe UI"/>
              </a:rPr>
              <a:t>OFF-CHAIN</a:t>
            </a:r>
          </a:p>
        </p:txBody>
      </p:sp>
      <p:sp>
        <p:nvSpPr>
          <p:cNvPr id="23" name="TextBox 22"/>
          <p:cNvSpPr txBox="1"/>
          <p:nvPr/>
        </p:nvSpPr>
        <p:spPr>
          <a:xfrm>
            <a:off x="8257032" y="2103120"/>
            <a:ext cx="3063240" cy="365760"/>
          </a:xfrm>
          <a:prstGeom prst="rect">
            <a:avLst/>
          </a:prstGeom>
          <a:noFill/>
        </p:spPr>
        <p:txBody>
          <a:bodyPr wrap="square" lIns="0" rIns="0" tIns="0" bIns="0" anchor="ctr">
            <a:noAutofit/>
          </a:bodyPr>
          <a:lstStyle/>
          <a:p>
            <a:pPr algn="r">
              <a:lnSpc>
                <a:spcPct val="100000"/>
              </a:lnSpc>
            </a:pPr>
            <a:r>
              <a:rPr sz="1150" b="0" i="0">
                <a:solidFill>
                  <a:srgbClr val="B4BCD6"/>
                </a:solidFill>
                <a:latin typeface="Segoe UI"/>
              </a:rPr>
              <a:t>app server · private · deletable</a:t>
            </a:r>
          </a:p>
        </p:txBody>
      </p:sp>
      <p:sp>
        <p:nvSpPr>
          <p:cNvPr id="24" name="Rounded Rectangle 23"/>
          <p:cNvSpPr/>
          <p:nvPr/>
        </p:nvSpPr>
        <p:spPr>
          <a:xfrm>
            <a:off x="6592824" y="2788920"/>
            <a:ext cx="146304" cy="146304"/>
          </a:xfrm>
          <a:prstGeom prst="roundRect">
            <a:avLst>
              <a:gd name="adj" fmla="val 50000"/>
            </a:avLst>
          </a:prstGeom>
          <a:solidFill>
            <a:srgbClr val="8B5CF6"/>
          </a:solidFill>
          <a:ln>
            <a:noFill/>
          </a:ln>
        </p:spPr>
        <p:txBody>
          <a:bodyPr rtlCol="0" anchor="ctr"/>
          <a:lstStyle/>
          <a:p>
            <a:pPr algn="ctr"/>
          </a:p>
        </p:txBody>
      </p:sp>
      <p:sp>
        <p:nvSpPr>
          <p:cNvPr id="25" name="TextBox 24"/>
          <p:cNvSpPr txBox="1"/>
          <p:nvPr/>
        </p:nvSpPr>
        <p:spPr>
          <a:xfrm>
            <a:off x="6903720" y="2670048"/>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Names, emails, phone numbers</a:t>
            </a:r>
          </a:p>
        </p:txBody>
      </p:sp>
      <p:sp>
        <p:nvSpPr>
          <p:cNvPr id="26" name="Rounded Rectangle 25"/>
          <p:cNvSpPr/>
          <p:nvPr/>
        </p:nvSpPr>
        <p:spPr>
          <a:xfrm>
            <a:off x="6592824" y="3300984"/>
            <a:ext cx="146304" cy="146304"/>
          </a:xfrm>
          <a:prstGeom prst="roundRect">
            <a:avLst>
              <a:gd name="adj" fmla="val 50000"/>
            </a:avLst>
          </a:prstGeom>
          <a:solidFill>
            <a:srgbClr val="8B5CF6"/>
          </a:solidFill>
          <a:ln>
            <a:noFill/>
          </a:ln>
        </p:spPr>
        <p:txBody>
          <a:bodyPr rtlCol="0" anchor="ctr"/>
          <a:lstStyle/>
          <a:p>
            <a:pPr algn="ctr"/>
          </a:p>
        </p:txBody>
      </p:sp>
      <p:sp>
        <p:nvSpPr>
          <p:cNvPr id="27" name="TextBox 26"/>
          <p:cNvSpPr txBox="1"/>
          <p:nvPr/>
        </p:nvSpPr>
        <p:spPr>
          <a:xfrm>
            <a:off x="6903720" y="3182112"/>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Listing details, photos, evidence files</a:t>
            </a:r>
          </a:p>
        </p:txBody>
      </p:sp>
      <p:sp>
        <p:nvSpPr>
          <p:cNvPr id="28" name="Rounded Rectangle 27"/>
          <p:cNvSpPr/>
          <p:nvPr/>
        </p:nvSpPr>
        <p:spPr>
          <a:xfrm>
            <a:off x="6592824" y="3813048"/>
            <a:ext cx="146304" cy="146304"/>
          </a:xfrm>
          <a:prstGeom prst="roundRect">
            <a:avLst>
              <a:gd name="adj" fmla="val 50000"/>
            </a:avLst>
          </a:prstGeom>
          <a:solidFill>
            <a:srgbClr val="8B5CF6"/>
          </a:solidFill>
          <a:ln>
            <a:noFill/>
          </a:ln>
        </p:spPr>
        <p:txBody>
          <a:bodyPr rtlCol="0" anchor="ctr"/>
          <a:lstStyle/>
          <a:p>
            <a:pPr algn="ctr"/>
          </a:p>
        </p:txBody>
      </p:sp>
      <p:sp>
        <p:nvSpPr>
          <p:cNvPr id="29" name="TextBox 28"/>
          <p:cNvSpPr txBox="1"/>
          <p:nvPr/>
        </p:nvSpPr>
        <p:spPr>
          <a:xfrm>
            <a:off x="6903720" y="3694176"/>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Hash salts — delete one, the hash points to nothing</a:t>
            </a:r>
          </a:p>
        </p:txBody>
      </p:sp>
      <p:sp>
        <p:nvSpPr>
          <p:cNvPr id="30" name="Rounded Rectangle 29"/>
          <p:cNvSpPr/>
          <p:nvPr/>
        </p:nvSpPr>
        <p:spPr>
          <a:xfrm>
            <a:off x="6592824" y="4325112"/>
            <a:ext cx="146304" cy="146304"/>
          </a:xfrm>
          <a:prstGeom prst="roundRect">
            <a:avLst>
              <a:gd name="adj" fmla="val 50000"/>
            </a:avLst>
          </a:prstGeom>
          <a:solidFill>
            <a:srgbClr val="8B5CF6"/>
          </a:solidFill>
          <a:ln>
            <a:noFill/>
          </a:ln>
        </p:spPr>
        <p:txBody>
          <a:bodyPr rtlCol="0" anchor="ctr"/>
          <a:lstStyle/>
          <a:p>
            <a:pPr algn="ctr"/>
          </a:p>
        </p:txBody>
      </p:sp>
      <p:sp>
        <p:nvSpPr>
          <p:cNvPr id="31" name="TextBox 30"/>
          <p:cNvSpPr txBox="1"/>
          <p:nvPr/>
        </p:nvSpPr>
        <p:spPr>
          <a:xfrm>
            <a:off x="6903720" y="4206240"/>
            <a:ext cx="4553712" cy="384048"/>
          </a:xfrm>
          <a:prstGeom prst="rect">
            <a:avLst/>
          </a:prstGeom>
          <a:noFill/>
        </p:spPr>
        <p:txBody>
          <a:bodyPr wrap="square" lIns="0" rIns="0" tIns="0" bIns="0" anchor="ctr">
            <a:noAutofit/>
          </a:bodyPr>
          <a:lstStyle/>
          <a:p>
            <a:pPr algn="l">
              <a:lnSpc>
                <a:spcPct val="100000"/>
              </a:lnSpc>
            </a:pPr>
            <a:r>
              <a:rPr sz="1350" b="0" i="0">
                <a:solidFill>
                  <a:srgbClr val="F4F6FF"/>
                </a:solidFill>
                <a:latin typeface="Segoe UI"/>
              </a:rPr>
              <a:t>Wallet ↔ person link</a:t>
            </a:r>
          </a:p>
        </p:txBody>
      </p:sp>
      <p:sp>
        <p:nvSpPr>
          <p:cNvPr id="32" name="Rounded Rectangle 31"/>
          <p:cNvSpPr/>
          <p:nvPr/>
        </p:nvSpPr>
        <p:spPr>
          <a:xfrm>
            <a:off x="6592824" y="4837176"/>
            <a:ext cx="146304" cy="146304"/>
          </a:xfrm>
          <a:prstGeom prst="roundRect">
            <a:avLst>
              <a:gd name="adj" fmla="val 50000"/>
            </a:avLst>
          </a:prstGeom>
          <a:solidFill>
            <a:srgbClr val="8B5CF6"/>
          </a:solidFill>
          <a:ln>
            <a:noFill/>
          </a:ln>
        </p:spPr>
        <p:txBody>
          <a:bodyPr rtlCol="0" anchor="ctr"/>
          <a:lstStyle/>
          <a:p>
            <a:pPr algn="ctr"/>
          </a:p>
        </p:txBody>
      </p:sp>
      <p:sp>
        <p:nvSpPr>
          <p:cNvPr id="33" name="TextBox 32"/>
          <p:cNvSpPr txBox="1"/>
          <p:nvPr/>
        </p:nvSpPr>
        <p:spPr>
          <a:xfrm>
            <a:off x="6903720" y="4718304"/>
            <a:ext cx="4553712" cy="384048"/>
          </a:xfrm>
          <a:prstGeom prst="rect">
            <a:avLst/>
          </a:prstGeom>
          <a:noFill/>
        </p:spPr>
        <p:txBody>
          <a:bodyPr wrap="square" lIns="0" rIns="0" tIns="0" bIns="0" anchor="ctr">
            <a:noAutofit/>
          </a:bodyPr>
          <a:lstStyle/>
          <a:p>
            <a:pPr algn="l">
              <a:lnSpc>
                <a:spcPct val="100000"/>
              </a:lnSpc>
            </a:pPr>
            <a:r>
              <a:rPr sz="1350" b="1" i="0">
                <a:solidFill>
                  <a:srgbClr val="F4F6FF"/>
                </a:solidFill>
                <a:latin typeface="Segoe UI"/>
              </a:rPr>
              <a:t>Off-chain data can’t move money or outcomes</a:t>
            </a:r>
          </a:p>
        </p:txBody>
      </p:sp>
      <p:sp>
        <p:nvSpPr>
          <p:cNvPr id="34" name="Rounded Rectangle 33"/>
          <p:cNvSpPr/>
          <p:nvPr/>
        </p:nvSpPr>
        <p:spPr>
          <a:xfrm>
            <a:off x="640080" y="5504688"/>
            <a:ext cx="10954512" cy="566928"/>
          </a:xfrm>
          <a:prstGeom prst="roundRect">
            <a:avLst>
              <a:gd name="adj" fmla="val 50000"/>
            </a:avLst>
          </a:prstGeom>
          <a:solidFill>
            <a:srgbClr val="2A1020"/>
          </a:solidFill>
          <a:ln w="12700">
            <a:solidFill>
              <a:srgbClr val="6B2440"/>
            </a:solidFill>
          </a:ln>
        </p:spPr>
        <p:txBody>
          <a:bodyPr rtlCol="0" anchor="ctr"/>
          <a:lstStyle/>
          <a:p>
            <a:pPr algn="ctr"/>
          </a:p>
        </p:txBody>
      </p:sp>
      <p:sp>
        <p:nvSpPr>
          <p:cNvPr id="35" name="TextBox 34"/>
          <p:cNvSpPr txBox="1"/>
          <p:nvPr/>
        </p:nvSpPr>
        <p:spPr>
          <a:xfrm>
            <a:off x="640080" y="5504688"/>
            <a:ext cx="10954512" cy="566928"/>
          </a:xfrm>
          <a:prstGeom prst="rect">
            <a:avLst/>
          </a:prstGeom>
          <a:noFill/>
        </p:spPr>
        <p:txBody>
          <a:bodyPr wrap="square" lIns="0" rIns="0" tIns="0" bIns="0" anchor="ctr">
            <a:noAutofit/>
          </a:bodyPr>
          <a:lstStyle/>
          <a:p>
            <a:pPr algn="ctr">
              <a:lnSpc>
                <a:spcPct val="100000"/>
              </a:lnSpc>
            </a:pPr>
            <a:r>
              <a:rPr sz="1400" b="1" i="0">
                <a:solidFill>
                  <a:srgbClr val="FF5C7A"/>
                </a:solidFill>
                <a:latin typeface="Segoe UI"/>
              </a:rPr>
              <a:t>Never on-chain:  </a:t>
            </a:r>
            <a:r>
              <a:rPr sz="1400" b="0" i="0">
                <a:solidFill>
                  <a:srgbClr val="F4F6FF"/>
                </a:solidFill>
                <a:latin typeface="Segoe UI"/>
              </a:rPr>
              <a:t>names · emails · phones · addresses · plates · listing text · free 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438912"/>
            <a:ext cx="8229600" cy="274320"/>
          </a:xfrm>
          <a:prstGeom prst="rect">
            <a:avLst/>
          </a:prstGeom>
          <a:noFill/>
        </p:spPr>
        <p:txBody>
          <a:bodyPr wrap="square" lIns="0" rIns="0" tIns="0" bIns="0" anchor="t">
            <a:noAutofit/>
          </a:bodyPr>
          <a:lstStyle/>
          <a:p>
            <a:pPr algn="l">
              <a:lnSpc>
                <a:spcPct val="100000"/>
              </a:lnSpc>
            </a:pPr>
            <a:r>
              <a:rPr sz="1150" b="1" i="0" spc="250">
                <a:solidFill>
                  <a:srgbClr val="14F195"/>
                </a:solidFill>
                <a:latin typeface="Segoe UI"/>
              </a:rPr>
              <a:t>09  ·  VISION</a:t>
            </a:r>
          </a:p>
        </p:txBody>
      </p:sp>
      <p:sp>
        <p:nvSpPr>
          <p:cNvPr id="4" name="TextBox 3"/>
          <p:cNvSpPr txBox="1"/>
          <p:nvPr/>
        </p:nvSpPr>
        <p:spPr>
          <a:xfrm>
            <a:off x="640080" y="713232"/>
            <a:ext cx="10881360" cy="685800"/>
          </a:xfrm>
          <a:prstGeom prst="rect">
            <a:avLst/>
          </a:prstGeom>
          <a:noFill/>
        </p:spPr>
        <p:txBody>
          <a:bodyPr wrap="square" lIns="0" rIns="0" tIns="0" bIns="0" anchor="t">
            <a:noAutofit/>
          </a:bodyPr>
          <a:lstStyle/>
          <a:p>
            <a:pPr algn="l">
              <a:lnSpc>
                <a:spcPct val="100000"/>
              </a:lnSpc>
            </a:pPr>
            <a:r>
              <a:rPr sz="3400" b="1" i="0">
                <a:solidFill>
                  <a:srgbClr val="F4F6FF"/>
                </a:solidFill>
                <a:latin typeface="Segoe UI"/>
              </a:rPr>
              <a:t>Deposits are step one</a:t>
            </a:r>
          </a:p>
        </p:txBody>
      </p:sp>
      <p:sp>
        <p:nvSpPr>
          <p:cNvPr id="5" name="TextBox 4"/>
          <p:cNvSpPr txBox="1"/>
          <p:nvPr/>
        </p:nvSpPr>
        <p:spPr>
          <a:xfrm>
            <a:off x="640080" y="1371600"/>
            <a:ext cx="10881360" cy="365760"/>
          </a:xfrm>
          <a:prstGeom prst="rect">
            <a:avLst/>
          </a:prstGeom>
          <a:noFill/>
        </p:spPr>
        <p:txBody>
          <a:bodyPr wrap="square" lIns="0" rIns="0" tIns="0" bIns="0" anchor="t">
            <a:noAutofit/>
          </a:bodyPr>
          <a:lstStyle/>
          <a:p>
            <a:pPr algn="l">
              <a:lnSpc>
                <a:spcPct val="100000"/>
              </a:lnSpc>
            </a:pPr>
            <a:r>
              <a:rPr sz="1500" b="0" i="0">
                <a:solidFill>
                  <a:srgbClr val="B4BCD6"/>
                </a:solidFill>
                <a:latin typeface="Segoe UI"/>
              </a:rPr>
              <a:t>A trust layer any website can plug in — the same Deal account; a new kind only for new mechanics.</a:t>
            </a:r>
          </a:p>
        </p:txBody>
      </p:sp>
      <p:sp>
        <p:nvSpPr>
          <p:cNvPr id="6" name="TextBox 5"/>
          <p:cNvSpPr txBox="1"/>
          <p:nvPr/>
        </p:nvSpPr>
        <p:spPr>
          <a:xfrm>
            <a:off x="640080" y="6382512"/>
            <a:ext cx="5486400" cy="228600"/>
          </a:xfrm>
          <a:prstGeom prst="rect">
            <a:avLst/>
          </a:prstGeom>
          <a:noFill/>
        </p:spPr>
        <p:txBody>
          <a:bodyPr wrap="square" lIns="0" rIns="0" tIns="0" bIns="0" anchor="t">
            <a:noAutofit/>
          </a:bodyPr>
          <a:lstStyle/>
          <a:p>
            <a:pPr algn="l">
              <a:lnSpc>
                <a:spcPct val="100000"/>
              </a:lnSpc>
            </a:pPr>
            <a:r>
              <a:rPr sz="1000" b="1" i="0">
                <a:solidFill>
                  <a:srgbClr val="B4BCD6"/>
                </a:solidFill>
                <a:latin typeface="Segoe UI"/>
              </a:rPr>
              <a:t>Kapora</a:t>
            </a:r>
            <a:r>
              <a:rPr sz="1000" b="0" i="0">
                <a:solidFill>
                  <a:srgbClr val="6F7A9A"/>
                </a:solidFill>
                <a:latin typeface="Segoe UI"/>
              </a:rPr>
              <a:t>  Protocol  ·  HackYeah 2026</a:t>
            </a:r>
          </a:p>
        </p:txBody>
      </p:sp>
      <p:sp>
        <p:nvSpPr>
          <p:cNvPr id="7" name="TextBox 6"/>
          <p:cNvSpPr txBox="1"/>
          <p:nvPr/>
        </p:nvSpPr>
        <p:spPr>
          <a:xfrm>
            <a:off x="9720072" y="6382512"/>
            <a:ext cx="1828800" cy="228600"/>
          </a:xfrm>
          <a:prstGeom prst="rect">
            <a:avLst/>
          </a:prstGeom>
          <a:noFill/>
        </p:spPr>
        <p:txBody>
          <a:bodyPr wrap="square" lIns="0" rIns="0" tIns="0" bIns="0" anchor="t">
            <a:noAutofit/>
          </a:bodyPr>
          <a:lstStyle/>
          <a:p>
            <a:pPr algn="r">
              <a:lnSpc>
                <a:spcPct val="100000"/>
              </a:lnSpc>
            </a:pPr>
            <a:r>
              <a:rPr sz="1000" b="0" i="0">
                <a:solidFill>
                  <a:srgbClr val="6F7A9A"/>
                </a:solidFill>
                <a:latin typeface="Segoe UI"/>
              </a:rPr>
              <a:t>09 / 10</a:t>
            </a:r>
          </a:p>
        </p:txBody>
      </p:sp>
      <p:cxnSp>
        <p:nvCxnSpPr>
          <p:cNvPr id="8" name="Connector 7"/>
          <p:cNvCxnSpPr/>
          <p:nvPr/>
        </p:nvCxnSpPr>
        <p:spPr>
          <a:xfrm>
            <a:off x="1495806" y="2331720"/>
            <a:ext cx="9243060" cy="0"/>
          </a:xfrm>
          <a:prstGeom prst="line">
            <a:avLst/>
          </a:prstGeom>
          <a:ln w="25400">
            <a:solidFill>
              <a:srgbClr val="34406A"/>
            </a:solidFill>
            <a:prstDash val="dash"/>
          </a:ln>
        </p:spPr>
      </p:cxnSp>
      <p:sp>
        <p:nvSpPr>
          <p:cNvPr id="9" name="Rounded Rectangle 8"/>
          <p:cNvSpPr/>
          <p:nvPr/>
        </p:nvSpPr>
        <p:spPr>
          <a:xfrm>
            <a:off x="1221486" y="2057400"/>
            <a:ext cx="548640" cy="548640"/>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10" name="TextBox 9"/>
          <p:cNvSpPr txBox="1"/>
          <p:nvPr/>
        </p:nvSpPr>
        <p:spPr>
          <a:xfrm>
            <a:off x="1221486" y="2057400"/>
            <a:ext cx="548640" cy="548640"/>
          </a:xfrm>
          <a:prstGeom prst="rect">
            <a:avLst/>
          </a:prstGeom>
          <a:noFill/>
        </p:spPr>
        <p:txBody>
          <a:bodyPr wrap="square" lIns="0" rIns="0" tIns="0" bIns="0" anchor="ctr">
            <a:noAutofit/>
          </a:bodyPr>
          <a:lstStyle/>
          <a:p>
            <a:pPr algn="ctr">
              <a:lnSpc>
                <a:spcPct val="100000"/>
              </a:lnSpc>
            </a:pPr>
            <a:r>
              <a:rPr sz="1700" b="1" i="0">
                <a:solidFill>
                  <a:srgbClr val="0A0F22"/>
                </a:solidFill>
                <a:latin typeface="Segoe UI"/>
              </a:rPr>
              <a:t>1</a:t>
            </a:r>
          </a:p>
        </p:txBody>
      </p:sp>
      <p:sp>
        <p:nvSpPr>
          <p:cNvPr id="11" name="Rounded Rectangle 10"/>
          <p:cNvSpPr/>
          <p:nvPr/>
        </p:nvSpPr>
        <p:spPr>
          <a:xfrm>
            <a:off x="640080" y="2880360"/>
            <a:ext cx="1711452" cy="2377440"/>
          </a:xfrm>
          <a:prstGeom prst="roundRect">
            <a:avLst>
              <a:gd name="adj" fmla="val 8548"/>
            </a:avLst>
          </a:prstGeom>
          <a:solidFill>
            <a:srgbClr val="16163A"/>
          </a:solidFill>
          <a:ln w="12700">
            <a:solidFill>
              <a:srgbClr val="8B5CF6"/>
            </a:solidFill>
          </a:ln>
        </p:spPr>
        <p:txBody>
          <a:bodyPr rtlCol="0" anchor="ctr"/>
          <a:lstStyle/>
          <a:p>
            <a:pPr algn="ctr"/>
          </a:p>
        </p:txBody>
      </p:sp>
      <p:sp>
        <p:nvSpPr>
          <p:cNvPr id="12" name="Rounded Rectangle 11"/>
          <p:cNvSpPr/>
          <p:nvPr/>
        </p:nvSpPr>
        <p:spPr>
          <a:xfrm>
            <a:off x="786384" y="3044952"/>
            <a:ext cx="1418844" cy="274320"/>
          </a:xfrm>
          <a:prstGeom prst="roundRect">
            <a:avLst>
              <a:gd name="adj" fmla="val 50000"/>
            </a:avLst>
          </a:prstGeom>
          <a:gradFill rotWithShape="1">
            <a:gsLst>
              <a:gs pos="0">
                <a:srgbClr val="9945FF"/>
              </a:gs>
              <a:gs pos="100000">
                <a:srgbClr val="14F195"/>
              </a:gs>
            </a:gsLst>
            <a:lin ang="0" scaled="0"/>
          </a:gradFill>
          <a:ln>
            <a:noFill/>
          </a:ln>
        </p:spPr>
        <p:txBody>
          <a:bodyPr rtlCol="0" anchor="ctr"/>
          <a:lstStyle/>
          <a:p>
            <a:pPr algn="ctr"/>
          </a:p>
        </p:txBody>
      </p:sp>
      <p:sp>
        <p:nvSpPr>
          <p:cNvPr id="13" name="TextBox 12"/>
          <p:cNvSpPr txBox="1"/>
          <p:nvPr/>
        </p:nvSpPr>
        <p:spPr>
          <a:xfrm>
            <a:off x="786384" y="3044952"/>
            <a:ext cx="1418844" cy="274320"/>
          </a:xfrm>
          <a:prstGeom prst="rect">
            <a:avLst/>
          </a:prstGeom>
          <a:noFill/>
        </p:spPr>
        <p:txBody>
          <a:bodyPr wrap="square" lIns="0" rIns="0" tIns="0" bIns="0" anchor="ctr">
            <a:noAutofit/>
          </a:bodyPr>
          <a:lstStyle/>
          <a:p>
            <a:pPr algn="ctr">
              <a:lnSpc>
                <a:spcPct val="100000"/>
              </a:lnSpc>
            </a:pPr>
            <a:r>
              <a:rPr sz="850" b="1" i="0" spc="100">
                <a:solidFill>
                  <a:srgbClr val="0A0F22"/>
                </a:solidFill>
                <a:latin typeface="Segoe UI"/>
              </a:rPr>
              <a:t>LIVE ON DEVNET</a:t>
            </a:r>
          </a:p>
        </p:txBody>
      </p:sp>
      <p:sp>
        <p:nvSpPr>
          <p:cNvPr id="14" name="TextBox 13"/>
          <p:cNvSpPr txBox="1"/>
          <p:nvPr/>
        </p:nvSpPr>
        <p:spPr>
          <a:xfrm>
            <a:off x="786384"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One program + widget</a:t>
            </a:r>
          </a:p>
        </p:txBody>
      </p:sp>
      <p:sp>
        <p:nvSpPr>
          <p:cNvPr id="15" name="TextBox 14"/>
          <p:cNvSpPr txBox="1"/>
          <p:nvPr/>
        </p:nvSpPr>
        <p:spPr>
          <a:xfrm>
            <a:off x="786384"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4 templates: deposit, rental, freelance, purchase. Nothing extra.</a:t>
            </a:r>
          </a:p>
        </p:txBody>
      </p:sp>
      <p:sp>
        <p:nvSpPr>
          <p:cNvPr id="16" name="Rounded Rectangle 15"/>
          <p:cNvSpPr/>
          <p:nvPr/>
        </p:nvSpPr>
        <p:spPr>
          <a:xfrm>
            <a:off x="3070098" y="2057400"/>
            <a:ext cx="548640" cy="548640"/>
          </a:xfrm>
          <a:prstGeom prst="roundRect">
            <a:avLst>
              <a:gd name="adj" fmla="val 50000"/>
            </a:avLst>
          </a:prstGeom>
          <a:solidFill>
            <a:srgbClr val="070B18"/>
          </a:solidFill>
          <a:ln w="19050">
            <a:solidFill>
              <a:srgbClr val="4A5888"/>
            </a:solidFill>
          </a:ln>
        </p:spPr>
        <p:txBody>
          <a:bodyPr rtlCol="0" anchor="ctr"/>
          <a:lstStyle/>
          <a:p>
            <a:pPr algn="ctr"/>
          </a:p>
        </p:txBody>
      </p:sp>
      <p:sp>
        <p:nvSpPr>
          <p:cNvPr id="17" name="TextBox 16"/>
          <p:cNvSpPr txBox="1"/>
          <p:nvPr/>
        </p:nvSpPr>
        <p:spPr>
          <a:xfrm>
            <a:off x="3070098" y="2057400"/>
            <a:ext cx="548640" cy="548640"/>
          </a:xfrm>
          <a:prstGeom prst="rect">
            <a:avLst/>
          </a:prstGeom>
          <a:noFill/>
        </p:spPr>
        <p:txBody>
          <a:bodyPr wrap="square" lIns="0" rIns="0" tIns="0" bIns="0" anchor="ctr">
            <a:noAutofit/>
          </a:bodyPr>
          <a:lstStyle/>
          <a:p>
            <a:pPr algn="ctr">
              <a:lnSpc>
                <a:spcPct val="100000"/>
              </a:lnSpc>
            </a:pPr>
            <a:r>
              <a:rPr sz="1700" b="1" i="0">
                <a:solidFill>
                  <a:srgbClr val="B4BCD6"/>
                </a:solidFill>
                <a:latin typeface="Segoe UI"/>
              </a:rPr>
              <a:t>2</a:t>
            </a:r>
          </a:p>
        </p:txBody>
      </p:sp>
      <p:sp>
        <p:nvSpPr>
          <p:cNvPr id="18" name="Rounded Rectangle 17"/>
          <p:cNvSpPr/>
          <p:nvPr/>
        </p:nvSpPr>
        <p:spPr>
          <a:xfrm>
            <a:off x="2488692" y="2880360"/>
            <a:ext cx="1711452" cy="2377440"/>
          </a:xfrm>
          <a:prstGeom prst="roundRect">
            <a:avLst>
              <a:gd name="adj" fmla="val 8548"/>
            </a:avLst>
          </a:prstGeom>
          <a:solidFill>
            <a:srgbClr val="0F1529"/>
          </a:solidFill>
          <a:ln w="12700">
            <a:solidFill>
              <a:srgbClr val="243055"/>
            </a:solidFill>
          </a:ln>
        </p:spPr>
        <p:txBody>
          <a:bodyPr rtlCol="0" anchor="ctr"/>
          <a:lstStyle/>
          <a:p>
            <a:pPr algn="ctr"/>
          </a:p>
        </p:txBody>
      </p:sp>
      <p:sp>
        <p:nvSpPr>
          <p:cNvPr id="19" name="TextBox 18"/>
          <p:cNvSpPr txBox="1"/>
          <p:nvPr/>
        </p:nvSpPr>
        <p:spPr>
          <a:xfrm>
            <a:off x="2634996" y="3044952"/>
            <a:ext cx="1418844" cy="274320"/>
          </a:xfrm>
          <a:prstGeom prst="rect">
            <a:avLst/>
          </a:prstGeom>
          <a:noFill/>
        </p:spPr>
        <p:txBody>
          <a:bodyPr wrap="square" lIns="0" rIns="0" tIns="0" bIns="0" anchor="ctr">
            <a:noAutofit/>
          </a:bodyPr>
          <a:lstStyle/>
          <a:p>
            <a:pPr algn="l">
              <a:lnSpc>
                <a:spcPct val="100000"/>
              </a:lnSpc>
            </a:pPr>
            <a:r>
              <a:rPr sz="900" b="1" i="0" spc="150">
                <a:solidFill>
                  <a:srgbClr val="6F7A9A"/>
                </a:solidFill>
                <a:latin typeface="Segoe UI"/>
              </a:rPr>
              <a:t>NEXT</a:t>
            </a:r>
          </a:p>
        </p:txBody>
      </p:sp>
      <p:sp>
        <p:nvSpPr>
          <p:cNvPr id="20" name="TextBox 19"/>
          <p:cNvSpPr txBox="1"/>
          <p:nvPr/>
        </p:nvSpPr>
        <p:spPr>
          <a:xfrm>
            <a:off x="2634996"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Auto-confirmed shipping</a:t>
            </a:r>
          </a:p>
        </p:txBody>
      </p:sp>
      <p:sp>
        <p:nvSpPr>
          <p:cNvPr id="21" name="TextBox 20"/>
          <p:cNvSpPr txBox="1"/>
          <p:nvPr/>
        </p:nvSpPr>
        <p:spPr>
          <a:xfrm>
            <a:off x="2634996"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Adds a shipping-data attester and an inspection window.</a:t>
            </a:r>
          </a:p>
        </p:txBody>
      </p:sp>
      <p:sp>
        <p:nvSpPr>
          <p:cNvPr id="22" name="Rounded Rectangle 21"/>
          <p:cNvSpPr/>
          <p:nvPr/>
        </p:nvSpPr>
        <p:spPr>
          <a:xfrm>
            <a:off x="4918710" y="2057400"/>
            <a:ext cx="548640" cy="548640"/>
          </a:xfrm>
          <a:prstGeom prst="roundRect">
            <a:avLst>
              <a:gd name="adj" fmla="val 50000"/>
            </a:avLst>
          </a:prstGeom>
          <a:solidFill>
            <a:srgbClr val="070B18"/>
          </a:solidFill>
          <a:ln w="19050">
            <a:solidFill>
              <a:srgbClr val="4A5888"/>
            </a:solidFill>
          </a:ln>
        </p:spPr>
        <p:txBody>
          <a:bodyPr rtlCol="0" anchor="ctr"/>
          <a:lstStyle/>
          <a:p>
            <a:pPr algn="ctr"/>
          </a:p>
        </p:txBody>
      </p:sp>
      <p:sp>
        <p:nvSpPr>
          <p:cNvPr id="23" name="TextBox 22"/>
          <p:cNvSpPr txBox="1"/>
          <p:nvPr/>
        </p:nvSpPr>
        <p:spPr>
          <a:xfrm>
            <a:off x="4918710" y="2057400"/>
            <a:ext cx="548640" cy="548640"/>
          </a:xfrm>
          <a:prstGeom prst="rect">
            <a:avLst/>
          </a:prstGeom>
          <a:noFill/>
        </p:spPr>
        <p:txBody>
          <a:bodyPr wrap="square" lIns="0" rIns="0" tIns="0" bIns="0" anchor="ctr">
            <a:noAutofit/>
          </a:bodyPr>
          <a:lstStyle/>
          <a:p>
            <a:pPr algn="ctr">
              <a:lnSpc>
                <a:spcPct val="100000"/>
              </a:lnSpc>
            </a:pPr>
            <a:r>
              <a:rPr sz="1700" b="1" i="0">
                <a:solidFill>
                  <a:srgbClr val="B4BCD6"/>
                </a:solidFill>
                <a:latin typeface="Segoe UI"/>
              </a:rPr>
              <a:t>3</a:t>
            </a:r>
          </a:p>
        </p:txBody>
      </p:sp>
      <p:sp>
        <p:nvSpPr>
          <p:cNvPr id="24" name="Rounded Rectangle 23"/>
          <p:cNvSpPr/>
          <p:nvPr/>
        </p:nvSpPr>
        <p:spPr>
          <a:xfrm>
            <a:off x="4337304" y="2880360"/>
            <a:ext cx="1711452" cy="2377440"/>
          </a:xfrm>
          <a:prstGeom prst="roundRect">
            <a:avLst>
              <a:gd name="adj" fmla="val 8548"/>
            </a:avLst>
          </a:prstGeom>
          <a:solidFill>
            <a:srgbClr val="0F1529"/>
          </a:solidFill>
          <a:ln w="12700">
            <a:solidFill>
              <a:srgbClr val="243055"/>
            </a:solidFill>
          </a:ln>
        </p:spPr>
        <p:txBody>
          <a:bodyPr rtlCol="0" anchor="ctr"/>
          <a:lstStyle/>
          <a:p>
            <a:pPr algn="ctr"/>
          </a:p>
        </p:txBody>
      </p:sp>
      <p:sp>
        <p:nvSpPr>
          <p:cNvPr id="25" name="TextBox 24"/>
          <p:cNvSpPr txBox="1"/>
          <p:nvPr/>
        </p:nvSpPr>
        <p:spPr>
          <a:xfrm>
            <a:off x="4483608" y="3044952"/>
            <a:ext cx="1418844" cy="274320"/>
          </a:xfrm>
          <a:prstGeom prst="rect">
            <a:avLst/>
          </a:prstGeom>
          <a:noFill/>
        </p:spPr>
        <p:txBody>
          <a:bodyPr wrap="square" lIns="0" rIns="0" tIns="0" bIns="0" anchor="ctr">
            <a:noAutofit/>
          </a:bodyPr>
          <a:lstStyle/>
          <a:p>
            <a:pPr algn="l">
              <a:lnSpc>
                <a:spcPct val="100000"/>
              </a:lnSpc>
            </a:pPr>
            <a:r>
              <a:rPr sz="900" b="1" i="0" spc="150">
                <a:solidFill>
                  <a:srgbClr val="6F7A9A"/>
                </a:solidFill>
                <a:latin typeface="Segoe UI"/>
              </a:rPr>
              <a:t>LATER</a:t>
            </a:r>
          </a:p>
        </p:txBody>
      </p:sp>
      <p:sp>
        <p:nvSpPr>
          <p:cNvPr id="26" name="TextBox 25"/>
          <p:cNvSpPr txBox="1"/>
          <p:nvPr/>
        </p:nvSpPr>
        <p:spPr>
          <a:xfrm>
            <a:off x="4483608"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Milestone payments</a:t>
            </a:r>
          </a:p>
        </p:txBody>
      </p:sp>
      <p:sp>
        <p:nvSpPr>
          <p:cNvPr id="27" name="TextBox 26"/>
          <p:cNvSpPr txBox="1"/>
          <p:nvPr/>
        </p:nvSpPr>
        <p:spPr>
          <a:xfrm>
            <a:off x="4483608"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Adds a sequence of stages (kind: Milestones).</a:t>
            </a:r>
          </a:p>
        </p:txBody>
      </p:sp>
      <p:sp>
        <p:nvSpPr>
          <p:cNvPr id="28" name="Rounded Rectangle 27"/>
          <p:cNvSpPr/>
          <p:nvPr/>
        </p:nvSpPr>
        <p:spPr>
          <a:xfrm>
            <a:off x="6767322" y="2057400"/>
            <a:ext cx="548640" cy="548640"/>
          </a:xfrm>
          <a:prstGeom prst="roundRect">
            <a:avLst>
              <a:gd name="adj" fmla="val 50000"/>
            </a:avLst>
          </a:prstGeom>
          <a:solidFill>
            <a:srgbClr val="070B18"/>
          </a:solidFill>
          <a:ln w="19050">
            <a:solidFill>
              <a:srgbClr val="4A5888"/>
            </a:solidFill>
          </a:ln>
        </p:spPr>
        <p:txBody>
          <a:bodyPr rtlCol="0" anchor="ctr"/>
          <a:lstStyle/>
          <a:p>
            <a:pPr algn="ctr"/>
          </a:p>
        </p:txBody>
      </p:sp>
      <p:sp>
        <p:nvSpPr>
          <p:cNvPr id="29" name="TextBox 28"/>
          <p:cNvSpPr txBox="1"/>
          <p:nvPr/>
        </p:nvSpPr>
        <p:spPr>
          <a:xfrm>
            <a:off x="6767322" y="2057400"/>
            <a:ext cx="548640" cy="548640"/>
          </a:xfrm>
          <a:prstGeom prst="rect">
            <a:avLst/>
          </a:prstGeom>
          <a:noFill/>
        </p:spPr>
        <p:txBody>
          <a:bodyPr wrap="square" lIns="0" rIns="0" tIns="0" bIns="0" anchor="ctr">
            <a:noAutofit/>
          </a:bodyPr>
          <a:lstStyle/>
          <a:p>
            <a:pPr algn="ctr">
              <a:lnSpc>
                <a:spcPct val="100000"/>
              </a:lnSpc>
            </a:pPr>
            <a:r>
              <a:rPr sz="1700" b="1" i="0">
                <a:solidFill>
                  <a:srgbClr val="B4BCD6"/>
                </a:solidFill>
                <a:latin typeface="Segoe UI"/>
              </a:rPr>
              <a:t>4</a:t>
            </a:r>
          </a:p>
        </p:txBody>
      </p:sp>
      <p:sp>
        <p:nvSpPr>
          <p:cNvPr id="30" name="Rounded Rectangle 29"/>
          <p:cNvSpPr/>
          <p:nvPr/>
        </p:nvSpPr>
        <p:spPr>
          <a:xfrm>
            <a:off x="6185916" y="2880360"/>
            <a:ext cx="1711452" cy="2377440"/>
          </a:xfrm>
          <a:prstGeom prst="roundRect">
            <a:avLst>
              <a:gd name="adj" fmla="val 8548"/>
            </a:avLst>
          </a:prstGeom>
          <a:solidFill>
            <a:srgbClr val="0F1529"/>
          </a:solidFill>
          <a:ln w="12700">
            <a:solidFill>
              <a:srgbClr val="243055"/>
            </a:solidFill>
          </a:ln>
        </p:spPr>
        <p:txBody>
          <a:bodyPr rtlCol="0" anchor="ctr"/>
          <a:lstStyle/>
          <a:p>
            <a:pPr algn="ctr"/>
          </a:p>
        </p:txBody>
      </p:sp>
      <p:sp>
        <p:nvSpPr>
          <p:cNvPr id="31" name="TextBox 30"/>
          <p:cNvSpPr txBox="1"/>
          <p:nvPr/>
        </p:nvSpPr>
        <p:spPr>
          <a:xfrm>
            <a:off x="6332220" y="3044952"/>
            <a:ext cx="1418844" cy="274320"/>
          </a:xfrm>
          <a:prstGeom prst="rect">
            <a:avLst/>
          </a:prstGeom>
          <a:noFill/>
        </p:spPr>
        <p:txBody>
          <a:bodyPr wrap="square" lIns="0" rIns="0" tIns="0" bIns="0" anchor="ctr">
            <a:noAutofit/>
          </a:bodyPr>
          <a:lstStyle/>
          <a:p>
            <a:pPr algn="l">
              <a:lnSpc>
                <a:spcPct val="100000"/>
              </a:lnSpc>
            </a:pPr>
            <a:r>
              <a:rPr sz="900" b="1" i="0" spc="150">
                <a:solidFill>
                  <a:srgbClr val="6F7A9A"/>
                </a:solidFill>
                <a:latin typeface="Segoe UI"/>
              </a:rPr>
              <a:t>LATER</a:t>
            </a:r>
          </a:p>
        </p:txBody>
      </p:sp>
      <p:sp>
        <p:nvSpPr>
          <p:cNvPr id="32" name="TextBox 31"/>
          <p:cNvSpPr txBox="1"/>
          <p:nvPr/>
        </p:nvSpPr>
        <p:spPr>
          <a:xfrm>
            <a:off x="6332220"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Digital asset swaps</a:t>
            </a:r>
          </a:p>
        </p:txBody>
      </p:sp>
      <p:sp>
        <p:nvSpPr>
          <p:cNvPr id="33" name="TextBox 32"/>
          <p:cNvSpPr txBox="1"/>
          <p:nvPr/>
        </p:nvSpPr>
        <p:spPr>
          <a:xfrm>
            <a:off x="6332220"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Adds nothing: asset and payment swap in one transaction.</a:t>
            </a:r>
          </a:p>
        </p:txBody>
      </p:sp>
      <p:sp>
        <p:nvSpPr>
          <p:cNvPr id="34" name="Rounded Rectangle 33"/>
          <p:cNvSpPr/>
          <p:nvPr/>
        </p:nvSpPr>
        <p:spPr>
          <a:xfrm>
            <a:off x="8615934" y="2057400"/>
            <a:ext cx="548640" cy="548640"/>
          </a:xfrm>
          <a:prstGeom prst="roundRect">
            <a:avLst>
              <a:gd name="adj" fmla="val 50000"/>
            </a:avLst>
          </a:prstGeom>
          <a:solidFill>
            <a:srgbClr val="070B18"/>
          </a:solidFill>
          <a:ln w="19050">
            <a:solidFill>
              <a:srgbClr val="4A5888"/>
            </a:solidFill>
          </a:ln>
        </p:spPr>
        <p:txBody>
          <a:bodyPr rtlCol="0" anchor="ctr"/>
          <a:lstStyle/>
          <a:p>
            <a:pPr algn="ctr"/>
          </a:p>
        </p:txBody>
      </p:sp>
      <p:sp>
        <p:nvSpPr>
          <p:cNvPr id="35" name="TextBox 34"/>
          <p:cNvSpPr txBox="1"/>
          <p:nvPr/>
        </p:nvSpPr>
        <p:spPr>
          <a:xfrm>
            <a:off x="8615934" y="2057400"/>
            <a:ext cx="548640" cy="548640"/>
          </a:xfrm>
          <a:prstGeom prst="rect">
            <a:avLst/>
          </a:prstGeom>
          <a:noFill/>
        </p:spPr>
        <p:txBody>
          <a:bodyPr wrap="square" lIns="0" rIns="0" tIns="0" bIns="0" anchor="ctr">
            <a:noAutofit/>
          </a:bodyPr>
          <a:lstStyle/>
          <a:p>
            <a:pPr algn="ctr">
              <a:lnSpc>
                <a:spcPct val="100000"/>
              </a:lnSpc>
            </a:pPr>
            <a:r>
              <a:rPr sz="1700" b="1" i="0">
                <a:solidFill>
                  <a:srgbClr val="B4BCD6"/>
                </a:solidFill>
                <a:latin typeface="Segoe UI"/>
              </a:rPr>
              <a:t>5</a:t>
            </a:r>
          </a:p>
        </p:txBody>
      </p:sp>
      <p:sp>
        <p:nvSpPr>
          <p:cNvPr id="36" name="Rounded Rectangle 35"/>
          <p:cNvSpPr/>
          <p:nvPr/>
        </p:nvSpPr>
        <p:spPr>
          <a:xfrm>
            <a:off x="8034528" y="2880360"/>
            <a:ext cx="1711452" cy="2377440"/>
          </a:xfrm>
          <a:prstGeom prst="roundRect">
            <a:avLst>
              <a:gd name="adj" fmla="val 8548"/>
            </a:avLst>
          </a:prstGeom>
          <a:solidFill>
            <a:srgbClr val="0F1529"/>
          </a:solidFill>
          <a:ln w="12700">
            <a:solidFill>
              <a:srgbClr val="243055"/>
            </a:solidFill>
          </a:ln>
        </p:spPr>
        <p:txBody>
          <a:bodyPr rtlCol="0" anchor="ctr"/>
          <a:lstStyle/>
          <a:p>
            <a:pPr algn="ctr"/>
          </a:p>
        </p:txBody>
      </p:sp>
      <p:sp>
        <p:nvSpPr>
          <p:cNvPr id="37" name="TextBox 36"/>
          <p:cNvSpPr txBox="1"/>
          <p:nvPr/>
        </p:nvSpPr>
        <p:spPr>
          <a:xfrm>
            <a:off x="8180832" y="3044952"/>
            <a:ext cx="1418844" cy="274320"/>
          </a:xfrm>
          <a:prstGeom prst="rect">
            <a:avLst/>
          </a:prstGeom>
          <a:noFill/>
        </p:spPr>
        <p:txBody>
          <a:bodyPr wrap="square" lIns="0" rIns="0" tIns="0" bIns="0" anchor="ctr">
            <a:noAutofit/>
          </a:bodyPr>
          <a:lstStyle/>
          <a:p>
            <a:pPr algn="l">
              <a:lnSpc>
                <a:spcPct val="100000"/>
              </a:lnSpc>
            </a:pPr>
            <a:r>
              <a:rPr sz="900" b="1" i="0" spc="150">
                <a:solidFill>
                  <a:srgbClr val="6F7A9A"/>
                </a:solidFill>
                <a:latin typeface="Segoe UI"/>
              </a:rPr>
              <a:t>LATER</a:t>
            </a:r>
          </a:p>
        </p:txBody>
      </p:sp>
      <p:sp>
        <p:nvSpPr>
          <p:cNvPr id="38" name="TextBox 37"/>
          <p:cNvSpPr txBox="1"/>
          <p:nvPr/>
        </p:nvSpPr>
        <p:spPr>
          <a:xfrm>
            <a:off x="8180832"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Event-based payouts</a:t>
            </a:r>
          </a:p>
        </p:txBody>
      </p:sp>
      <p:sp>
        <p:nvSpPr>
          <p:cNvPr id="39" name="TextBox 38"/>
          <p:cNvSpPr txBox="1"/>
          <p:nvPr/>
        </p:nvSpPr>
        <p:spPr>
          <a:xfrm>
            <a:off x="8180832"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e.g. parametric flight-delay insurance. Adds an oracle.</a:t>
            </a:r>
          </a:p>
        </p:txBody>
      </p:sp>
      <p:sp>
        <p:nvSpPr>
          <p:cNvPr id="40" name="Rounded Rectangle 39"/>
          <p:cNvSpPr/>
          <p:nvPr/>
        </p:nvSpPr>
        <p:spPr>
          <a:xfrm>
            <a:off x="10464546" y="2057400"/>
            <a:ext cx="548640" cy="548640"/>
          </a:xfrm>
          <a:prstGeom prst="roundRect">
            <a:avLst>
              <a:gd name="adj" fmla="val 50000"/>
            </a:avLst>
          </a:prstGeom>
          <a:solidFill>
            <a:srgbClr val="070B18"/>
          </a:solidFill>
          <a:ln w="19050">
            <a:solidFill>
              <a:srgbClr val="4A5888"/>
            </a:solidFill>
          </a:ln>
        </p:spPr>
        <p:txBody>
          <a:bodyPr rtlCol="0" anchor="ctr"/>
          <a:lstStyle/>
          <a:p>
            <a:pPr algn="ctr"/>
          </a:p>
        </p:txBody>
      </p:sp>
      <p:sp>
        <p:nvSpPr>
          <p:cNvPr id="41" name="TextBox 40"/>
          <p:cNvSpPr txBox="1"/>
          <p:nvPr/>
        </p:nvSpPr>
        <p:spPr>
          <a:xfrm>
            <a:off x="10464546" y="2057400"/>
            <a:ext cx="548640" cy="548640"/>
          </a:xfrm>
          <a:prstGeom prst="rect">
            <a:avLst/>
          </a:prstGeom>
          <a:noFill/>
        </p:spPr>
        <p:txBody>
          <a:bodyPr wrap="square" lIns="0" rIns="0" tIns="0" bIns="0" anchor="ctr">
            <a:noAutofit/>
          </a:bodyPr>
          <a:lstStyle/>
          <a:p>
            <a:pPr algn="ctr">
              <a:lnSpc>
                <a:spcPct val="100000"/>
              </a:lnSpc>
            </a:pPr>
            <a:r>
              <a:rPr sz="1700" b="1" i="0">
                <a:solidFill>
                  <a:srgbClr val="B4BCD6"/>
                </a:solidFill>
                <a:latin typeface="Segoe UI"/>
              </a:rPr>
              <a:t>6</a:t>
            </a:r>
          </a:p>
        </p:txBody>
      </p:sp>
      <p:sp>
        <p:nvSpPr>
          <p:cNvPr id="42" name="Rounded Rectangle 41"/>
          <p:cNvSpPr/>
          <p:nvPr/>
        </p:nvSpPr>
        <p:spPr>
          <a:xfrm>
            <a:off x="9883140" y="2880360"/>
            <a:ext cx="1711452" cy="2377440"/>
          </a:xfrm>
          <a:prstGeom prst="roundRect">
            <a:avLst>
              <a:gd name="adj" fmla="val 8548"/>
            </a:avLst>
          </a:prstGeom>
          <a:solidFill>
            <a:srgbClr val="0F1529"/>
          </a:solidFill>
          <a:ln w="12700">
            <a:solidFill>
              <a:srgbClr val="243055"/>
            </a:solidFill>
          </a:ln>
        </p:spPr>
        <p:txBody>
          <a:bodyPr rtlCol="0" anchor="ctr"/>
          <a:lstStyle/>
          <a:p>
            <a:pPr algn="ctr"/>
          </a:p>
        </p:txBody>
      </p:sp>
      <p:sp>
        <p:nvSpPr>
          <p:cNvPr id="43" name="TextBox 42"/>
          <p:cNvSpPr txBox="1"/>
          <p:nvPr/>
        </p:nvSpPr>
        <p:spPr>
          <a:xfrm>
            <a:off x="10029444" y="3044952"/>
            <a:ext cx="1418844" cy="274320"/>
          </a:xfrm>
          <a:prstGeom prst="rect">
            <a:avLst/>
          </a:prstGeom>
          <a:noFill/>
        </p:spPr>
        <p:txBody>
          <a:bodyPr wrap="square" lIns="0" rIns="0" tIns="0" bIns="0" anchor="ctr">
            <a:noAutofit/>
          </a:bodyPr>
          <a:lstStyle/>
          <a:p>
            <a:pPr algn="l">
              <a:lnSpc>
                <a:spcPct val="100000"/>
              </a:lnSpc>
            </a:pPr>
            <a:r>
              <a:rPr sz="900" b="1" i="0" spc="150">
                <a:solidFill>
                  <a:srgbClr val="6F7A9A"/>
                </a:solidFill>
                <a:latin typeface="Segoe UI"/>
              </a:rPr>
              <a:t>LATER</a:t>
            </a:r>
          </a:p>
        </p:txBody>
      </p:sp>
      <p:sp>
        <p:nvSpPr>
          <p:cNvPr id="44" name="TextBox 43"/>
          <p:cNvSpPr txBox="1"/>
          <p:nvPr/>
        </p:nvSpPr>
        <p:spPr>
          <a:xfrm>
            <a:off x="10029444" y="3456432"/>
            <a:ext cx="1437132" cy="685800"/>
          </a:xfrm>
          <a:prstGeom prst="rect">
            <a:avLst/>
          </a:prstGeom>
          <a:noFill/>
        </p:spPr>
        <p:txBody>
          <a:bodyPr wrap="square" lIns="0" rIns="0" tIns="0" bIns="0" anchor="t">
            <a:noAutofit/>
          </a:bodyPr>
          <a:lstStyle/>
          <a:p>
            <a:pPr algn="l">
              <a:lnSpc>
                <a:spcPct val="100000"/>
              </a:lnSpc>
            </a:pPr>
            <a:r>
              <a:rPr sz="1400" b="1" i="0">
                <a:solidFill>
                  <a:srgbClr val="F4F6FF"/>
                </a:solidFill>
                <a:latin typeface="Segoe UI"/>
              </a:rPr>
              <a:t>Payment API for any site</a:t>
            </a:r>
          </a:p>
        </p:txBody>
      </p:sp>
      <p:sp>
        <p:nvSpPr>
          <p:cNvPr id="45" name="TextBox 44"/>
          <p:cNvSpPr txBox="1"/>
          <p:nvPr/>
        </p:nvSpPr>
        <p:spPr>
          <a:xfrm>
            <a:off x="10029444" y="4160520"/>
            <a:ext cx="1437132" cy="1051560"/>
          </a:xfrm>
          <a:prstGeom prst="rect">
            <a:avLst/>
          </a:prstGeom>
          <a:noFill/>
        </p:spPr>
        <p:txBody>
          <a:bodyPr wrap="square" lIns="0" rIns="0" tIns="0" bIns="0" anchor="t">
            <a:noAutofit/>
          </a:bodyPr>
          <a:lstStyle/>
          <a:p>
            <a:pPr algn="l">
              <a:lnSpc>
                <a:spcPct val="100000"/>
              </a:lnSpc>
            </a:pPr>
            <a:r>
              <a:rPr sz="1100" b="0" i="0">
                <a:solidFill>
                  <a:srgbClr val="B4BCD6"/>
                </a:solidFill>
                <a:latin typeface="Segoe UI"/>
              </a:rPr>
              <a:t>Adds dashboard, webhooks and a fee model.</a:t>
            </a:r>
          </a:p>
        </p:txBody>
      </p:sp>
      <p:sp>
        <p:nvSpPr>
          <p:cNvPr id="46" name="Rounded Rectangle 45"/>
          <p:cNvSpPr/>
          <p:nvPr/>
        </p:nvSpPr>
        <p:spPr>
          <a:xfrm>
            <a:off x="640080" y="5468112"/>
            <a:ext cx="10954512" cy="621792"/>
          </a:xfrm>
          <a:prstGeom prst="roundRect">
            <a:avLst>
              <a:gd name="adj" fmla="val 17647"/>
            </a:avLst>
          </a:prstGeom>
          <a:solidFill>
            <a:srgbClr val="060914"/>
          </a:solidFill>
          <a:ln w="12700">
            <a:solidFill>
              <a:srgbClr val="243055"/>
            </a:solidFill>
          </a:ln>
        </p:spPr>
        <p:txBody>
          <a:bodyPr rtlCol="0" anchor="ctr"/>
          <a:lstStyle/>
          <a:p>
            <a:pPr algn="ctr"/>
          </a:p>
        </p:txBody>
      </p:sp>
      <p:sp>
        <p:nvSpPr>
          <p:cNvPr id="47" name="TextBox 46"/>
          <p:cNvSpPr txBox="1"/>
          <p:nvPr/>
        </p:nvSpPr>
        <p:spPr>
          <a:xfrm>
            <a:off x="868680" y="5468112"/>
            <a:ext cx="10515600" cy="621792"/>
          </a:xfrm>
          <a:prstGeom prst="rect">
            <a:avLst/>
          </a:prstGeom>
          <a:noFill/>
        </p:spPr>
        <p:txBody>
          <a:bodyPr wrap="square" lIns="0" rIns="0" tIns="0" bIns="0" anchor="ctr">
            <a:noAutofit/>
          </a:bodyPr>
          <a:lstStyle/>
          <a:p>
            <a:pPr algn="l">
              <a:lnSpc>
                <a:spcPct val="100000"/>
              </a:lnSpc>
            </a:pPr>
            <a:r>
              <a:rPr sz="1150" b="1" i="0">
                <a:solidFill>
                  <a:srgbClr val="F4F6FF"/>
                </a:solidFill>
                <a:latin typeface="Segoe UI"/>
              </a:rPr>
              <a:t>Deliberately out of scope: </a:t>
            </a:r>
            <a:r>
              <a:rPr sz="1150" b="0" i="0">
                <a:solidFill>
                  <a:srgbClr val="B4BCD6"/>
                </a:solidFill>
                <a:latin typeface="Segoe UI"/>
              </a:rPr>
              <a:t>betting / prediction markets.   </a:t>
            </a:r>
            <a:r>
              <a:rPr sz="1150" b="1" i="0">
                <a:solidFill>
                  <a:srgbClr val="F4F6FF"/>
                </a:solidFill>
                <a:latin typeface="Segoe UI"/>
              </a:rPr>
              <a:t>Vision only, not in the MVP: </a:t>
            </a:r>
            <a:r>
              <a:rPr sz="1150" b="0" i="0">
                <a:solidFill>
                  <a:srgbClr val="B4BCD6"/>
                </a:solidFill>
                <a:latin typeface="Segoe UI"/>
              </a:rPr>
              <a:t>encrypted identity escrow for large deals (an off-chain trust feature).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bg_titl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77240" y="914400"/>
            <a:ext cx="566928" cy="566928"/>
          </a:xfrm>
          <a:prstGeom prst="roundRect">
            <a:avLst>
              <a:gd name="adj" fmla="val 25806"/>
            </a:avLst>
          </a:prstGeom>
          <a:gradFill rotWithShape="1">
            <a:gsLst>
              <a:gs pos="0">
                <a:srgbClr val="9945FF"/>
              </a:gs>
              <a:gs pos="100000">
                <a:srgbClr val="14F195"/>
              </a:gs>
            </a:gsLst>
            <a:lin ang="0" scaled="0"/>
          </a:gradFill>
          <a:ln>
            <a:noFill/>
          </a:ln>
        </p:spPr>
        <p:txBody>
          <a:bodyPr rtlCol="0" anchor="ctr"/>
          <a:lstStyle/>
          <a:p>
            <a:pPr algn="ctr"/>
          </a:p>
        </p:txBody>
      </p:sp>
      <p:sp>
        <p:nvSpPr>
          <p:cNvPr id="4" name="TextBox 3"/>
          <p:cNvSpPr txBox="1"/>
          <p:nvPr/>
        </p:nvSpPr>
        <p:spPr>
          <a:xfrm>
            <a:off x="777240" y="914400"/>
            <a:ext cx="566928" cy="566928"/>
          </a:xfrm>
          <a:prstGeom prst="rect">
            <a:avLst/>
          </a:prstGeom>
          <a:noFill/>
        </p:spPr>
        <p:txBody>
          <a:bodyPr wrap="square" lIns="0" rIns="0" tIns="0" bIns="0" anchor="ctr">
            <a:noAutofit/>
          </a:bodyPr>
          <a:lstStyle/>
          <a:p>
            <a:pPr algn="ctr">
              <a:lnSpc>
                <a:spcPct val="100000"/>
              </a:lnSpc>
            </a:pPr>
            <a:r>
              <a:rPr sz="2400" b="1" i="0">
                <a:solidFill>
                  <a:srgbClr val="0A0F22"/>
                </a:solidFill>
                <a:latin typeface="Segoe UI"/>
              </a:rPr>
              <a:t>K</a:t>
            </a:r>
          </a:p>
        </p:txBody>
      </p:sp>
      <p:sp>
        <p:nvSpPr>
          <p:cNvPr id="5" name="TextBox 4"/>
          <p:cNvSpPr txBox="1"/>
          <p:nvPr/>
        </p:nvSpPr>
        <p:spPr>
          <a:xfrm>
            <a:off x="749808" y="1645920"/>
            <a:ext cx="10789920" cy="731520"/>
          </a:xfrm>
          <a:prstGeom prst="rect">
            <a:avLst/>
          </a:prstGeom>
          <a:noFill/>
        </p:spPr>
        <p:txBody>
          <a:bodyPr wrap="square" lIns="0" rIns="0" tIns="0" bIns="0" anchor="t">
            <a:noAutofit/>
          </a:bodyPr>
          <a:lstStyle/>
          <a:p>
            <a:pPr algn="l">
              <a:lnSpc>
                <a:spcPct val="100000"/>
              </a:lnSpc>
            </a:pPr>
            <a:r>
              <a:rPr sz="4200" b="1" i="0">
                <a:solidFill>
                  <a:srgbClr val="F4F6FF"/>
                </a:solidFill>
                <a:latin typeface="Segoe UI"/>
              </a:rPr>
              <a:t>One component —</a:t>
            </a:r>
          </a:p>
        </p:txBody>
      </p:sp>
      <p:sp>
        <p:nvSpPr>
          <p:cNvPr id="6" name="TextBox 5"/>
          <p:cNvSpPr txBox="1"/>
          <p:nvPr/>
        </p:nvSpPr>
        <p:spPr>
          <a:xfrm>
            <a:off x="749808" y="2331720"/>
            <a:ext cx="10789920" cy="731520"/>
          </a:xfrm>
          <a:prstGeom prst="rect">
            <a:avLst/>
          </a:prstGeom>
          <a:noFill/>
        </p:spPr>
        <p:txBody>
          <a:bodyPr wrap="square" lIns="0" rIns="0" tIns="0" bIns="0" anchor="t">
            <a:noAutofit/>
          </a:bodyPr>
          <a:lstStyle/>
          <a:p>
            <a:pPr algn="l">
              <a:lnSpc>
                <a:spcPct val="100000"/>
              </a:lnSpc>
            </a:pPr>
            <a:r>
              <a:rPr sz="4200" b="1" i="0">
                <a:gradFill rotWithShape="1">
                  <a:gsLst>
                    <a:gs pos="0">
                      <a:srgbClr val="9945FF"/>
                    </a:gs>
                    <a:gs pos="100000">
                      <a:srgbClr val="14F195"/>
                    </a:gs>
                  </a:gsLst>
                  <a:lin ang="0" scaled="0"/>
                </a:gradFill>
                <a:latin typeface="Segoe UI"/>
              </a:rPr>
              <a:t>every marketplace, every sector,</a:t>
            </a:r>
          </a:p>
        </p:txBody>
      </p:sp>
      <p:sp>
        <p:nvSpPr>
          <p:cNvPr id="7" name="TextBox 6"/>
          <p:cNvSpPr txBox="1"/>
          <p:nvPr/>
        </p:nvSpPr>
        <p:spPr>
          <a:xfrm>
            <a:off x="749808" y="3017520"/>
            <a:ext cx="10789920" cy="731520"/>
          </a:xfrm>
          <a:prstGeom prst="rect">
            <a:avLst/>
          </a:prstGeom>
          <a:noFill/>
        </p:spPr>
        <p:txBody>
          <a:bodyPr wrap="square" lIns="0" rIns="0" tIns="0" bIns="0" anchor="t">
            <a:noAutofit/>
          </a:bodyPr>
          <a:lstStyle/>
          <a:p>
            <a:pPr algn="l">
              <a:lnSpc>
                <a:spcPct val="100000"/>
              </a:lnSpc>
            </a:pPr>
            <a:r>
              <a:rPr sz="4200" b="1" i="0">
                <a:gradFill rotWithShape="1">
                  <a:gsLst>
                    <a:gs pos="0">
                      <a:srgbClr val="9945FF"/>
                    </a:gs>
                    <a:gs pos="100000">
                      <a:srgbClr val="14F195"/>
                    </a:gs>
                  </a:gsLst>
                  <a:lin ang="0" scaled="0"/>
                </a:gradFill>
                <a:latin typeface="Segoe UI"/>
              </a:rPr>
              <a:t>every country.</a:t>
            </a:r>
          </a:p>
        </p:txBody>
      </p:sp>
      <p:sp>
        <p:nvSpPr>
          <p:cNvPr id="8" name="Rounded Rectangle 7"/>
          <p:cNvSpPr/>
          <p:nvPr/>
        </p:nvSpPr>
        <p:spPr>
          <a:xfrm>
            <a:off x="777240" y="3977639"/>
            <a:ext cx="921715"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9" name="TextBox 8"/>
          <p:cNvSpPr txBox="1"/>
          <p:nvPr/>
        </p:nvSpPr>
        <p:spPr>
          <a:xfrm>
            <a:off x="777240" y="3977639"/>
            <a:ext cx="921715" cy="365760"/>
          </a:xfrm>
          <a:prstGeom prst="rect">
            <a:avLst/>
          </a:prstGeom>
          <a:noFill/>
        </p:spPr>
        <p:txBody>
          <a:bodyPr wrap="square" lIns="0" rIns="0" tIns="0" bIns="0" anchor="ctr">
            <a:noAutofit/>
          </a:bodyPr>
          <a:lstStyle/>
          <a:p>
            <a:pPr algn="ctr">
              <a:lnSpc>
                <a:spcPct val="100000"/>
              </a:lnSpc>
            </a:pPr>
            <a:r>
              <a:rPr sz="1200" b="0" i="0">
                <a:solidFill>
                  <a:srgbClr val="F4F6FF"/>
                </a:solidFill>
                <a:latin typeface="Segoe UI"/>
              </a:rPr>
              <a:t>Solana</a:t>
            </a:r>
          </a:p>
        </p:txBody>
      </p:sp>
      <p:sp>
        <p:nvSpPr>
          <p:cNvPr id="10" name="Rounded Rectangle 9"/>
          <p:cNvSpPr/>
          <p:nvPr/>
        </p:nvSpPr>
        <p:spPr>
          <a:xfrm>
            <a:off x="1845259" y="3977639"/>
            <a:ext cx="1369771"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11" name="TextBox 10"/>
          <p:cNvSpPr txBox="1"/>
          <p:nvPr/>
        </p:nvSpPr>
        <p:spPr>
          <a:xfrm>
            <a:off x="1845259" y="3977639"/>
            <a:ext cx="1369771" cy="365760"/>
          </a:xfrm>
          <a:prstGeom prst="rect">
            <a:avLst/>
          </a:prstGeom>
          <a:noFill/>
        </p:spPr>
        <p:txBody>
          <a:bodyPr wrap="square" lIns="0" rIns="0" tIns="0" bIns="0" anchor="ctr">
            <a:noAutofit/>
          </a:bodyPr>
          <a:lstStyle/>
          <a:p>
            <a:pPr algn="ctr">
              <a:lnSpc>
                <a:spcPct val="100000"/>
              </a:lnSpc>
            </a:pPr>
            <a:r>
              <a:rPr sz="1200" b="0" i="0">
                <a:solidFill>
                  <a:srgbClr val="F4F6FF"/>
                </a:solidFill>
                <a:latin typeface="Segoe UI"/>
              </a:rPr>
              <a:t>Anchor 0.32</a:t>
            </a:r>
          </a:p>
        </p:txBody>
      </p:sp>
      <p:sp>
        <p:nvSpPr>
          <p:cNvPr id="12" name="Rounded Rectangle 11"/>
          <p:cNvSpPr/>
          <p:nvPr/>
        </p:nvSpPr>
        <p:spPr>
          <a:xfrm>
            <a:off x="3361334" y="3977639"/>
            <a:ext cx="1190548"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13" name="TextBox 12"/>
          <p:cNvSpPr txBox="1"/>
          <p:nvPr/>
        </p:nvSpPr>
        <p:spPr>
          <a:xfrm>
            <a:off x="3361334" y="3977639"/>
            <a:ext cx="1190548" cy="365760"/>
          </a:xfrm>
          <a:prstGeom prst="rect">
            <a:avLst/>
          </a:prstGeom>
          <a:noFill/>
        </p:spPr>
        <p:txBody>
          <a:bodyPr wrap="square" lIns="0" rIns="0" tIns="0" bIns="0" anchor="ctr">
            <a:noAutofit/>
          </a:bodyPr>
          <a:lstStyle/>
          <a:p>
            <a:pPr algn="ctr">
              <a:lnSpc>
                <a:spcPct val="100000"/>
              </a:lnSpc>
            </a:pPr>
            <a:r>
              <a:rPr sz="1200" b="0" i="0">
                <a:solidFill>
                  <a:srgbClr val="F4F6FF"/>
                </a:solidFill>
                <a:latin typeface="Segoe UI"/>
              </a:rPr>
              <a:t>SPL Token</a:t>
            </a:r>
          </a:p>
        </p:txBody>
      </p:sp>
      <p:sp>
        <p:nvSpPr>
          <p:cNvPr id="14" name="Rounded Rectangle 13"/>
          <p:cNvSpPr/>
          <p:nvPr/>
        </p:nvSpPr>
        <p:spPr>
          <a:xfrm>
            <a:off x="4698187" y="3977639"/>
            <a:ext cx="1011326"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15" name="TextBox 14"/>
          <p:cNvSpPr txBox="1"/>
          <p:nvPr/>
        </p:nvSpPr>
        <p:spPr>
          <a:xfrm>
            <a:off x="4698187" y="3977639"/>
            <a:ext cx="1011326" cy="365760"/>
          </a:xfrm>
          <a:prstGeom prst="rect">
            <a:avLst/>
          </a:prstGeom>
          <a:noFill/>
        </p:spPr>
        <p:txBody>
          <a:bodyPr wrap="square" lIns="0" rIns="0" tIns="0" bIns="0" anchor="ctr">
            <a:noAutofit/>
          </a:bodyPr>
          <a:lstStyle/>
          <a:p>
            <a:pPr algn="ctr">
              <a:lnSpc>
                <a:spcPct val="100000"/>
              </a:lnSpc>
            </a:pPr>
            <a:r>
              <a:rPr sz="1200" b="0" i="0">
                <a:solidFill>
                  <a:srgbClr val="F4F6FF"/>
                </a:solidFill>
                <a:latin typeface="Segoe UI"/>
              </a:rPr>
              <a:t>Next.js</a:t>
            </a:r>
          </a:p>
        </p:txBody>
      </p:sp>
      <p:sp>
        <p:nvSpPr>
          <p:cNvPr id="16" name="Rounded Rectangle 15"/>
          <p:cNvSpPr/>
          <p:nvPr/>
        </p:nvSpPr>
        <p:spPr>
          <a:xfrm>
            <a:off x="5855817" y="3977639"/>
            <a:ext cx="1638604" cy="365760"/>
          </a:xfrm>
          <a:prstGeom prst="roundRect">
            <a:avLst>
              <a:gd name="adj" fmla="val 50000"/>
            </a:avLst>
          </a:prstGeom>
          <a:solidFill>
            <a:srgbClr val="141C35"/>
          </a:solidFill>
          <a:ln w="12700">
            <a:solidFill>
              <a:srgbClr val="243055"/>
            </a:solidFill>
          </a:ln>
        </p:spPr>
        <p:txBody>
          <a:bodyPr rtlCol="0" anchor="ctr"/>
          <a:lstStyle/>
          <a:p>
            <a:pPr algn="ctr"/>
          </a:p>
        </p:txBody>
      </p:sp>
      <p:sp>
        <p:nvSpPr>
          <p:cNvPr id="17" name="TextBox 16"/>
          <p:cNvSpPr txBox="1"/>
          <p:nvPr/>
        </p:nvSpPr>
        <p:spPr>
          <a:xfrm>
            <a:off x="5855817" y="3977639"/>
            <a:ext cx="1638604" cy="365760"/>
          </a:xfrm>
          <a:prstGeom prst="rect">
            <a:avLst/>
          </a:prstGeom>
          <a:noFill/>
        </p:spPr>
        <p:txBody>
          <a:bodyPr wrap="square" lIns="0" rIns="0" tIns="0" bIns="0" anchor="ctr">
            <a:noAutofit/>
          </a:bodyPr>
          <a:lstStyle/>
          <a:p>
            <a:pPr algn="ctr">
              <a:lnSpc>
                <a:spcPct val="100000"/>
              </a:lnSpc>
            </a:pPr>
            <a:r>
              <a:rPr sz="1200" b="0" i="0">
                <a:solidFill>
                  <a:srgbClr val="F4F6FF"/>
                </a:solidFill>
                <a:latin typeface="Segoe UI"/>
              </a:rPr>
              <a:t>TypeScript SDK</a:t>
            </a:r>
          </a:p>
        </p:txBody>
      </p:sp>
      <p:sp>
        <p:nvSpPr>
          <p:cNvPr id="18" name="Rounded Rectangle 17"/>
          <p:cNvSpPr/>
          <p:nvPr/>
        </p:nvSpPr>
        <p:spPr>
          <a:xfrm>
            <a:off x="777240" y="4553712"/>
            <a:ext cx="6812280" cy="1645920"/>
          </a:xfrm>
          <a:prstGeom prst="roundRect">
            <a:avLst>
              <a:gd name="adj" fmla="val 8888"/>
            </a:avLst>
          </a:prstGeom>
          <a:solidFill>
            <a:srgbClr val="0D1330"/>
          </a:solidFill>
          <a:ln w="12700">
            <a:solidFill>
              <a:srgbClr val="243055"/>
            </a:solidFill>
          </a:ln>
        </p:spPr>
        <p:txBody>
          <a:bodyPr rtlCol="0" anchor="ctr"/>
          <a:lstStyle/>
          <a:p>
            <a:pPr algn="ctr"/>
          </a:p>
        </p:txBody>
      </p:sp>
      <p:sp>
        <p:nvSpPr>
          <p:cNvPr id="19" name="TextBox 18"/>
          <p:cNvSpPr txBox="1"/>
          <p:nvPr/>
        </p:nvSpPr>
        <p:spPr>
          <a:xfrm>
            <a:off x="987552" y="4645152"/>
            <a:ext cx="1188720" cy="274320"/>
          </a:xfrm>
          <a:prstGeom prst="rect">
            <a:avLst/>
          </a:prstGeom>
          <a:noFill/>
        </p:spPr>
        <p:txBody>
          <a:bodyPr wrap="square" lIns="0" rIns="0" tIns="0" bIns="0" anchor="ctr">
            <a:noAutofit/>
          </a:bodyPr>
          <a:lstStyle/>
          <a:p>
            <a:pPr algn="l">
              <a:lnSpc>
                <a:spcPct val="100000"/>
              </a:lnSpc>
            </a:pPr>
            <a:r>
              <a:rPr sz="950" b="1" i="0" spc="150">
                <a:solidFill>
                  <a:srgbClr val="6F7A9A"/>
                </a:solidFill>
                <a:latin typeface="Segoe UI"/>
              </a:rPr>
              <a:t>REPO</a:t>
            </a:r>
          </a:p>
        </p:txBody>
      </p:sp>
      <p:sp>
        <p:nvSpPr>
          <p:cNvPr id="20" name="TextBox 19"/>
          <p:cNvSpPr txBox="1"/>
          <p:nvPr/>
        </p:nvSpPr>
        <p:spPr>
          <a:xfrm>
            <a:off x="2103120" y="4645152"/>
            <a:ext cx="5394960" cy="274320"/>
          </a:xfrm>
          <a:prstGeom prst="rect">
            <a:avLst/>
          </a:prstGeom>
          <a:noFill/>
        </p:spPr>
        <p:txBody>
          <a:bodyPr wrap="square" lIns="0" rIns="0" tIns="0" bIns="0" anchor="ctr">
            <a:noAutofit/>
          </a:bodyPr>
          <a:lstStyle/>
          <a:p>
            <a:pPr algn="l">
              <a:lnSpc>
                <a:spcPct val="100000"/>
              </a:lnSpc>
            </a:pPr>
            <a:r>
              <a:rPr sz="1200" b="0" i="0">
                <a:solidFill>
                  <a:srgbClr val="F4F6FF"/>
                </a:solidFill>
                <a:latin typeface="Segoe UI"/>
              </a:rPr>
              <a:t>[ github.com/&lt;user&gt;/kapora ]</a:t>
            </a:r>
          </a:p>
        </p:txBody>
      </p:sp>
      <p:sp>
        <p:nvSpPr>
          <p:cNvPr id="21" name="TextBox 20"/>
          <p:cNvSpPr txBox="1"/>
          <p:nvPr/>
        </p:nvSpPr>
        <p:spPr>
          <a:xfrm>
            <a:off x="987552" y="4937760"/>
            <a:ext cx="1188720" cy="274320"/>
          </a:xfrm>
          <a:prstGeom prst="rect">
            <a:avLst/>
          </a:prstGeom>
          <a:noFill/>
        </p:spPr>
        <p:txBody>
          <a:bodyPr wrap="square" lIns="0" rIns="0" tIns="0" bIns="0" anchor="ctr">
            <a:noAutofit/>
          </a:bodyPr>
          <a:lstStyle/>
          <a:p>
            <a:pPr algn="l">
              <a:lnSpc>
                <a:spcPct val="100000"/>
              </a:lnSpc>
            </a:pPr>
            <a:r>
              <a:rPr sz="950" b="1" i="0" spc="150">
                <a:solidFill>
                  <a:srgbClr val="6F7A9A"/>
                </a:solidFill>
                <a:latin typeface="Segoe UI"/>
              </a:rPr>
              <a:t>VIDEO</a:t>
            </a:r>
          </a:p>
        </p:txBody>
      </p:sp>
      <p:sp>
        <p:nvSpPr>
          <p:cNvPr id="22" name="TextBox 21"/>
          <p:cNvSpPr txBox="1"/>
          <p:nvPr/>
        </p:nvSpPr>
        <p:spPr>
          <a:xfrm>
            <a:off x="2103120" y="4937760"/>
            <a:ext cx="5394960" cy="274320"/>
          </a:xfrm>
          <a:prstGeom prst="rect">
            <a:avLst/>
          </a:prstGeom>
          <a:noFill/>
        </p:spPr>
        <p:txBody>
          <a:bodyPr wrap="square" lIns="0" rIns="0" tIns="0" bIns="0" anchor="ctr">
            <a:noAutofit/>
          </a:bodyPr>
          <a:lstStyle/>
          <a:p>
            <a:pPr algn="l">
              <a:lnSpc>
                <a:spcPct val="100000"/>
              </a:lnSpc>
            </a:pPr>
            <a:r>
              <a:rPr sz="1200" b="0" i="0">
                <a:solidFill>
                  <a:srgbClr val="F4F6FF"/>
                </a:solidFill>
                <a:latin typeface="Segoe UI"/>
              </a:rPr>
              <a:t>[ public video link, ≤ 3 min ]</a:t>
            </a:r>
          </a:p>
        </p:txBody>
      </p:sp>
      <p:sp>
        <p:nvSpPr>
          <p:cNvPr id="23" name="TextBox 22"/>
          <p:cNvSpPr txBox="1"/>
          <p:nvPr/>
        </p:nvSpPr>
        <p:spPr>
          <a:xfrm>
            <a:off x="987552" y="5230368"/>
            <a:ext cx="1188720" cy="274320"/>
          </a:xfrm>
          <a:prstGeom prst="rect">
            <a:avLst/>
          </a:prstGeom>
          <a:noFill/>
        </p:spPr>
        <p:txBody>
          <a:bodyPr wrap="square" lIns="0" rIns="0" tIns="0" bIns="0" anchor="ctr">
            <a:noAutofit/>
          </a:bodyPr>
          <a:lstStyle/>
          <a:p>
            <a:pPr algn="l">
              <a:lnSpc>
                <a:spcPct val="100000"/>
              </a:lnSpc>
            </a:pPr>
            <a:r>
              <a:rPr sz="950" b="1" i="0" spc="150">
                <a:solidFill>
                  <a:srgbClr val="6F7A9A"/>
                </a:solidFill>
                <a:latin typeface="Segoe UI"/>
              </a:rPr>
              <a:t>LIVE DEMO</a:t>
            </a:r>
          </a:p>
        </p:txBody>
      </p:sp>
      <p:sp>
        <p:nvSpPr>
          <p:cNvPr id="24" name="TextBox 23"/>
          <p:cNvSpPr txBox="1"/>
          <p:nvPr/>
        </p:nvSpPr>
        <p:spPr>
          <a:xfrm>
            <a:off x="2103120" y="5230368"/>
            <a:ext cx="5394960" cy="274320"/>
          </a:xfrm>
          <a:prstGeom prst="rect">
            <a:avLst/>
          </a:prstGeom>
          <a:noFill/>
        </p:spPr>
        <p:txBody>
          <a:bodyPr wrap="square" lIns="0" rIns="0" tIns="0" bIns="0" anchor="ctr">
            <a:noAutofit/>
          </a:bodyPr>
          <a:lstStyle/>
          <a:p>
            <a:pPr algn="l">
              <a:lnSpc>
                <a:spcPct val="100000"/>
              </a:lnSpc>
            </a:pPr>
            <a:r>
              <a:rPr sz="1200" b="0" i="0">
                <a:solidFill>
                  <a:srgbClr val="F4F6FF"/>
                </a:solidFill>
                <a:latin typeface="Segoe UI"/>
              </a:rPr>
              <a:t>[ https://&lt;demo-url&gt; ]  ·  devnet, Phantom</a:t>
            </a:r>
          </a:p>
        </p:txBody>
      </p:sp>
      <p:sp>
        <p:nvSpPr>
          <p:cNvPr id="25" name="TextBox 24"/>
          <p:cNvSpPr txBox="1"/>
          <p:nvPr/>
        </p:nvSpPr>
        <p:spPr>
          <a:xfrm>
            <a:off x="987552" y="5522976"/>
            <a:ext cx="1188720" cy="274320"/>
          </a:xfrm>
          <a:prstGeom prst="rect">
            <a:avLst/>
          </a:prstGeom>
          <a:noFill/>
        </p:spPr>
        <p:txBody>
          <a:bodyPr wrap="square" lIns="0" rIns="0" tIns="0" bIns="0" anchor="ctr">
            <a:noAutofit/>
          </a:bodyPr>
          <a:lstStyle/>
          <a:p>
            <a:pPr algn="l">
              <a:lnSpc>
                <a:spcPct val="100000"/>
              </a:lnSpc>
            </a:pPr>
            <a:r>
              <a:rPr sz="950" b="1" i="0" spc="150">
                <a:solidFill>
                  <a:srgbClr val="6F7A9A"/>
                </a:solidFill>
                <a:latin typeface="Segoe UI"/>
              </a:rPr>
              <a:t>PROGRAM</a:t>
            </a:r>
          </a:p>
        </p:txBody>
      </p:sp>
      <p:sp>
        <p:nvSpPr>
          <p:cNvPr id="26" name="TextBox 25"/>
          <p:cNvSpPr txBox="1"/>
          <p:nvPr/>
        </p:nvSpPr>
        <p:spPr>
          <a:xfrm>
            <a:off x="2103120" y="5522976"/>
            <a:ext cx="5394960" cy="274320"/>
          </a:xfrm>
          <a:prstGeom prst="rect">
            <a:avLst/>
          </a:prstGeom>
          <a:noFill/>
        </p:spPr>
        <p:txBody>
          <a:bodyPr wrap="square" lIns="0" rIns="0" tIns="0" bIns="0" anchor="ctr">
            <a:noAutofit/>
          </a:bodyPr>
          <a:lstStyle/>
          <a:p>
            <a:pPr algn="l">
              <a:lnSpc>
                <a:spcPct val="100000"/>
              </a:lnSpc>
            </a:pPr>
            <a:r>
              <a:rPr sz="1150" b="0" i="0">
                <a:solidFill>
                  <a:srgbClr val="14F195"/>
                </a:solidFill>
                <a:latin typeface="Consolas"/>
              </a:rPr>
              <a:t>AkQXPVXUYDqyNUVNAsYGYXy9sHQR636xcuJbAJkiJe5F</a:t>
            </a:r>
          </a:p>
        </p:txBody>
      </p:sp>
      <p:sp>
        <p:nvSpPr>
          <p:cNvPr id="27" name="TextBox 26"/>
          <p:cNvSpPr txBox="1"/>
          <p:nvPr/>
        </p:nvSpPr>
        <p:spPr>
          <a:xfrm>
            <a:off x="987552" y="5815584"/>
            <a:ext cx="1188720" cy="274320"/>
          </a:xfrm>
          <a:prstGeom prst="rect">
            <a:avLst/>
          </a:prstGeom>
          <a:noFill/>
        </p:spPr>
        <p:txBody>
          <a:bodyPr wrap="square" lIns="0" rIns="0" tIns="0" bIns="0" anchor="ctr">
            <a:noAutofit/>
          </a:bodyPr>
          <a:lstStyle/>
          <a:p>
            <a:pPr algn="l">
              <a:lnSpc>
                <a:spcPct val="100000"/>
              </a:lnSpc>
            </a:pPr>
            <a:r>
              <a:rPr sz="950" b="1" i="0" spc="150">
                <a:solidFill>
                  <a:srgbClr val="6F7A9A"/>
                </a:solidFill>
                <a:latin typeface="Segoe UI"/>
              </a:rPr>
              <a:t>TEAM</a:t>
            </a:r>
          </a:p>
        </p:txBody>
      </p:sp>
      <p:sp>
        <p:nvSpPr>
          <p:cNvPr id="28" name="TextBox 27"/>
          <p:cNvSpPr txBox="1"/>
          <p:nvPr/>
        </p:nvSpPr>
        <p:spPr>
          <a:xfrm>
            <a:off x="2103120" y="5815584"/>
            <a:ext cx="5394960" cy="274320"/>
          </a:xfrm>
          <a:prstGeom prst="rect">
            <a:avLst/>
          </a:prstGeom>
          <a:noFill/>
        </p:spPr>
        <p:txBody>
          <a:bodyPr wrap="square" lIns="0" rIns="0" tIns="0" bIns="0" anchor="ctr">
            <a:noAutofit/>
          </a:bodyPr>
          <a:lstStyle/>
          <a:p>
            <a:pPr algn="l">
              <a:lnSpc>
                <a:spcPct val="100000"/>
              </a:lnSpc>
            </a:pPr>
            <a:r>
              <a:rPr sz="1200" b="0" i="0">
                <a:solidFill>
                  <a:srgbClr val="F4F6FF"/>
                </a:solidFill>
                <a:latin typeface="Segoe UI"/>
              </a:rPr>
              <a:t>[Team name]  ·  [Name Surname]  ·  ahmetenes2004@hotmail.com</a:t>
            </a:r>
          </a:p>
        </p:txBody>
      </p:sp>
      <p:sp>
        <p:nvSpPr>
          <p:cNvPr id="29" name="Rounded Rectangle 28"/>
          <p:cNvSpPr/>
          <p:nvPr/>
        </p:nvSpPr>
        <p:spPr>
          <a:xfrm>
            <a:off x="7863840" y="3977639"/>
            <a:ext cx="3730752" cy="2221992"/>
          </a:xfrm>
          <a:prstGeom prst="roundRect">
            <a:avLst>
              <a:gd name="adj" fmla="val 6584"/>
            </a:avLst>
          </a:prstGeom>
          <a:solidFill>
            <a:srgbClr val="0B1022"/>
          </a:solidFill>
          <a:ln w="12700">
            <a:solidFill>
              <a:srgbClr val="243055"/>
            </a:solidFill>
          </a:ln>
        </p:spPr>
        <p:txBody>
          <a:bodyPr rtlCol="0" anchor="ctr"/>
          <a:lstStyle/>
          <a:p>
            <a:pPr algn="ctr"/>
          </a:p>
        </p:txBody>
      </p:sp>
      <p:sp>
        <p:nvSpPr>
          <p:cNvPr id="30" name="TextBox 29"/>
          <p:cNvSpPr txBox="1"/>
          <p:nvPr/>
        </p:nvSpPr>
        <p:spPr>
          <a:xfrm>
            <a:off x="8092440" y="4114800"/>
            <a:ext cx="3291840" cy="274320"/>
          </a:xfrm>
          <a:prstGeom prst="rect">
            <a:avLst/>
          </a:prstGeom>
          <a:noFill/>
        </p:spPr>
        <p:txBody>
          <a:bodyPr wrap="square" lIns="0" rIns="0" tIns="0" bIns="0" anchor="t">
            <a:noAutofit/>
          </a:bodyPr>
          <a:lstStyle/>
          <a:p>
            <a:pPr algn="l">
              <a:lnSpc>
                <a:spcPct val="100000"/>
              </a:lnSpc>
            </a:pPr>
            <a:r>
              <a:rPr sz="950" b="1" i="0" spc="150">
                <a:solidFill>
                  <a:srgbClr val="FFB547"/>
                </a:solidFill>
                <a:latin typeface="Segoe UI"/>
              </a:rPr>
              <a:t>LIMITATIONS (HONEST)</a:t>
            </a:r>
          </a:p>
        </p:txBody>
      </p:sp>
      <p:sp>
        <p:nvSpPr>
          <p:cNvPr id="31" name="Rounded Rectangle 30"/>
          <p:cNvSpPr/>
          <p:nvPr/>
        </p:nvSpPr>
        <p:spPr>
          <a:xfrm>
            <a:off x="8110727" y="4517136"/>
            <a:ext cx="82296" cy="82296"/>
          </a:xfrm>
          <a:prstGeom prst="roundRect">
            <a:avLst>
              <a:gd name="adj" fmla="val 50000"/>
            </a:avLst>
          </a:prstGeom>
          <a:solidFill>
            <a:srgbClr val="FFB547"/>
          </a:solidFill>
          <a:ln>
            <a:noFill/>
          </a:ln>
        </p:spPr>
        <p:txBody>
          <a:bodyPr rtlCol="0" anchor="ctr"/>
          <a:lstStyle/>
          <a:p>
            <a:pPr algn="ctr"/>
          </a:p>
        </p:txBody>
      </p:sp>
      <p:sp>
        <p:nvSpPr>
          <p:cNvPr id="32" name="TextBox 31"/>
          <p:cNvSpPr txBox="1"/>
          <p:nvPr/>
        </p:nvSpPr>
        <p:spPr>
          <a:xfrm>
            <a:off x="8302752" y="4434840"/>
            <a:ext cx="3154680" cy="411480"/>
          </a:xfrm>
          <a:prstGeom prst="rect">
            <a:avLst/>
          </a:prstGeom>
          <a:noFill/>
        </p:spPr>
        <p:txBody>
          <a:bodyPr wrap="square" lIns="0" rIns="0" tIns="0" bIns="0" anchor="t">
            <a:noAutofit/>
          </a:bodyPr>
          <a:lstStyle/>
          <a:p>
            <a:pPr algn="l">
              <a:lnSpc>
                <a:spcPct val="100000"/>
              </a:lnSpc>
            </a:pPr>
            <a:r>
              <a:rPr sz="1050" b="0" i="0">
                <a:solidFill>
                  <a:srgbClr val="B4BCD6"/>
                </a:solidFill>
                <a:latin typeface="Segoe UI"/>
              </a:rPr>
              <a:t>The handover is off-chain: confirmations come from the parties.</a:t>
            </a:r>
          </a:p>
        </p:txBody>
      </p:sp>
      <p:sp>
        <p:nvSpPr>
          <p:cNvPr id="33" name="Rounded Rectangle 32"/>
          <p:cNvSpPr/>
          <p:nvPr/>
        </p:nvSpPr>
        <p:spPr>
          <a:xfrm>
            <a:off x="8110727" y="4946903"/>
            <a:ext cx="82296" cy="82296"/>
          </a:xfrm>
          <a:prstGeom prst="roundRect">
            <a:avLst>
              <a:gd name="adj" fmla="val 50000"/>
            </a:avLst>
          </a:prstGeom>
          <a:solidFill>
            <a:srgbClr val="FFB547"/>
          </a:solidFill>
          <a:ln>
            <a:noFill/>
          </a:ln>
        </p:spPr>
        <p:txBody>
          <a:bodyPr rtlCol="0" anchor="ctr"/>
          <a:lstStyle/>
          <a:p>
            <a:pPr algn="ctr"/>
          </a:p>
        </p:txBody>
      </p:sp>
      <p:sp>
        <p:nvSpPr>
          <p:cNvPr id="34" name="TextBox 33"/>
          <p:cNvSpPr txBox="1"/>
          <p:nvPr/>
        </p:nvSpPr>
        <p:spPr>
          <a:xfrm>
            <a:off x="8302752" y="4864607"/>
            <a:ext cx="3154680" cy="411480"/>
          </a:xfrm>
          <a:prstGeom prst="rect">
            <a:avLst/>
          </a:prstGeom>
          <a:noFill/>
        </p:spPr>
        <p:txBody>
          <a:bodyPr wrap="square" lIns="0" rIns="0" tIns="0" bIns="0" anchor="t">
            <a:noAutofit/>
          </a:bodyPr>
          <a:lstStyle/>
          <a:p>
            <a:pPr algn="l">
              <a:lnSpc>
                <a:spcPct val="100000"/>
              </a:lnSpc>
            </a:pPr>
            <a:r>
              <a:rPr sz="1050" b="0" i="0">
                <a:solidFill>
                  <a:srgbClr val="B4BCD6"/>
                </a:solidFill>
                <a:latin typeface="Segoe UI"/>
              </a:rPr>
              <a:t>An arbiter is optional — and trusted once both agree to one.</a:t>
            </a:r>
          </a:p>
        </p:txBody>
      </p:sp>
      <p:sp>
        <p:nvSpPr>
          <p:cNvPr id="35" name="Rounded Rectangle 34"/>
          <p:cNvSpPr/>
          <p:nvPr/>
        </p:nvSpPr>
        <p:spPr>
          <a:xfrm>
            <a:off x="8110727" y="5376671"/>
            <a:ext cx="82296" cy="82296"/>
          </a:xfrm>
          <a:prstGeom prst="roundRect">
            <a:avLst>
              <a:gd name="adj" fmla="val 50000"/>
            </a:avLst>
          </a:prstGeom>
          <a:solidFill>
            <a:srgbClr val="FFB547"/>
          </a:solidFill>
          <a:ln>
            <a:noFill/>
          </a:ln>
        </p:spPr>
        <p:txBody>
          <a:bodyPr rtlCol="0" anchor="ctr"/>
          <a:lstStyle/>
          <a:p>
            <a:pPr algn="ctr"/>
          </a:p>
        </p:txBody>
      </p:sp>
      <p:sp>
        <p:nvSpPr>
          <p:cNvPr id="36" name="TextBox 35"/>
          <p:cNvSpPr txBox="1"/>
          <p:nvPr/>
        </p:nvSpPr>
        <p:spPr>
          <a:xfrm>
            <a:off x="8302752" y="5294375"/>
            <a:ext cx="3154680" cy="411480"/>
          </a:xfrm>
          <a:prstGeom prst="rect">
            <a:avLst/>
          </a:prstGeom>
          <a:noFill/>
        </p:spPr>
        <p:txBody>
          <a:bodyPr wrap="square" lIns="0" rIns="0" tIns="0" bIns="0" anchor="t">
            <a:noAutofit/>
          </a:bodyPr>
          <a:lstStyle/>
          <a:p>
            <a:pPr algn="l">
              <a:lnSpc>
                <a:spcPct val="100000"/>
              </a:lnSpc>
            </a:pPr>
            <a:r>
              <a:rPr sz="1050" b="0" i="0">
                <a:solidFill>
                  <a:srgbClr val="B4BCD6"/>
                </a:solidFill>
                <a:latin typeface="Segoe UI"/>
              </a:rPr>
              <a:t>Devnet and test USDC only; not audited, not production-ready.</a:t>
            </a:r>
          </a:p>
        </p:txBody>
      </p:sp>
      <p:sp>
        <p:nvSpPr>
          <p:cNvPr id="37" name="Rounded Rectangle 36"/>
          <p:cNvSpPr/>
          <p:nvPr/>
        </p:nvSpPr>
        <p:spPr>
          <a:xfrm>
            <a:off x="8110727" y="5806440"/>
            <a:ext cx="82296" cy="82296"/>
          </a:xfrm>
          <a:prstGeom prst="roundRect">
            <a:avLst>
              <a:gd name="adj" fmla="val 50000"/>
            </a:avLst>
          </a:prstGeom>
          <a:solidFill>
            <a:srgbClr val="FFB547"/>
          </a:solidFill>
          <a:ln>
            <a:noFill/>
          </a:ln>
        </p:spPr>
        <p:txBody>
          <a:bodyPr rtlCol="0" anchor="ctr"/>
          <a:lstStyle/>
          <a:p>
            <a:pPr algn="ctr"/>
          </a:p>
        </p:txBody>
      </p:sp>
      <p:sp>
        <p:nvSpPr>
          <p:cNvPr id="38" name="TextBox 37"/>
          <p:cNvSpPr txBox="1"/>
          <p:nvPr/>
        </p:nvSpPr>
        <p:spPr>
          <a:xfrm>
            <a:off x="8302752" y="5724144"/>
            <a:ext cx="3154680" cy="411480"/>
          </a:xfrm>
          <a:prstGeom prst="rect">
            <a:avLst/>
          </a:prstGeom>
          <a:noFill/>
        </p:spPr>
        <p:txBody>
          <a:bodyPr wrap="square" lIns="0" rIns="0" tIns="0" bIns="0" anchor="t">
            <a:noAutofit/>
          </a:bodyPr>
          <a:lstStyle/>
          <a:p>
            <a:pPr algn="l">
              <a:lnSpc>
                <a:spcPct val="100000"/>
              </a:lnSpc>
            </a:pPr>
            <a:r>
              <a:rPr sz="1050" b="0" i="0">
                <a:solidFill>
                  <a:srgbClr val="B4BCD6"/>
                </a:solidFill>
                <a:latin typeface="Segoe UI"/>
              </a:rPr>
              <a:t>Legal effect of an on-chain zadatek needs legal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Kapora: Trustless Deposits for Marketplaces</dc:title>
  <dc:subject/>
  <dc:creator>Kapora Protocol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